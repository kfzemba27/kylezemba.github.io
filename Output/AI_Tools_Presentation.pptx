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943600" y="-274320"/>
            <a:ext cx="4572000" cy="2743200"/>
          </a:xfrm>
          <a:prstGeom prst="rect">
            <a:avLst/>
          </a:prstGeom>
          <a:noFill/>
          <a:ln/>
        </p:spPr>
        <p:txBody>
          <a:bodyPr wrap="square" lIns="0" tIns="0" rIns="0" bIns="0" rtlCol="0" anchor="ctr"/>
          <a:lstStyle/>
          <a:p>
            <a:pPr algn="l" indent="0" marL="0">
              <a:buNone/>
            </a:pPr>
            <a:r>
              <a:rPr lang="en-US" sz="18000" b="1" dirty="0">
                <a:solidFill>
                  <a:srgbClr val="1E293B"/>
                </a:solidFill>
                <a:latin typeface="Calibri" pitchFamily="34" charset="0"/>
                <a:ea typeface="Calibri" pitchFamily="34" charset="-122"/>
                <a:cs typeface="Calibri" pitchFamily="34" charset="-120"/>
              </a:rPr>
              <a:t>AI</a:t>
            </a:r>
            <a:endParaRPr lang="en-US" sz="18000" dirty="0"/>
          </a:p>
        </p:txBody>
      </p:sp>
      <p:sp>
        <p:nvSpPr>
          <p:cNvPr id="3" name="Text 1"/>
          <p:cNvSpPr/>
          <p:nvPr/>
        </p:nvSpPr>
        <p:spPr>
          <a:xfrm>
            <a:off x="594360" y="822960"/>
            <a:ext cx="7772400" cy="228600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AI Tools for</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Advertising &amp; Marketing</a:t>
            </a:r>
            <a:endParaRPr lang="en-US" sz="4000" dirty="0"/>
          </a:p>
        </p:txBody>
      </p:sp>
      <p:sp>
        <p:nvSpPr>
          <p:cNvPr id="4" name="Text 2"/>
          <p:cNvSpPr/>
          <p:nvPr/>
        </p:nvSpPr>
        <p:spPr>
          <a:xfrm>
            <a:off x="594360" y="3246120"/>
            <a:ext cx="6858000" cy="457200"/>
          </a:xfrm>
          <a:prstGeom prst="rect">
            <a:avLst/>
          </a:prstGeom>
          <a:noFill/>
          <a:ln/>
        </p:spPr>
        <p:txBody>
          <a:bodyPr wrap="square" lIns="0" tIns="0" rIns="0" bIns="0" rtlCol="0" anchor="ctr"/>
          <a:lstStyle/>
          <a:p>
            <a:pPr algn="l" indent="0" marL="0">
              <a:buNone/>
            </a:pPr>
            <a:r>
              <a:rPr lang="en-US" sz="1500" dirty="0">
                <a:solidFill>
                  <a:srgbClr val="818CF8"/>
                </a:solidFill>
                <a:latin typeface="Calibri" pitchFamily="34" charset="0"/>
                <a:ea typeface="Calibri" pitchFamily="34" charset="-122"/>
                <a:cs typeface="Calibri" pitchFamily="34" charset="-120"/>
              </a:rPr>
              <a:t>A strategic guide for agency professionals</a:t>
            </a:r>
            <a:endParaRPr lang="en-US" sz="1500" dirty="0"/>
          </a:p>
        </p:txBody>
      </p:sp>
      <p:sp>
        <p:nvSpPr>
          <p:cNvPr id="5" name="Text 3"/>
          <p:cNvSpPr/>
          <p:nvPr/>
        </p:nvSpPr>
        <p:spPr>
          <a:xfrm>
            <a:off x="594360" y="4160520"/>
            <a:ext cx="457200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Kyle  ·  2026</a:t>
            </a:r>
            <a:endParaRPr lang="en-US" sz="1100" dirty="0"/>
          </a:p>
        </p:txBody>
      </p:sp>
      <p:sp>
        <p:nvSpPr>
          <p:cNvPr id="6" name="Shape 4"/>
          <p:cNvSpPr/>
          <p:nvPr/>
        </p:nvSpPr>
        <p:spPr>
          <a:xfrm>
            <a:off x="0" y="4960620"/>
            <a:ext cx="9144000" cy="182880"/>
          </a:xfrm>
          <a:prstGeom prst="rect">
            <a:avLst/>
          </a:prstGeom>
          <a:solidFill>
            <a:srgbClr val="6366F1"/>
          </a:solidFill>
          <a:ln w="12700">
            <a:solidFill>
              <a:srgbClr val="6366F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411480" y="347472"/>
            <a:ext cx="8229600" cy="256032"/>
          </a:xfrm>
          <a:prstGeom prst="rect">
            <a:avLst/>
          </a:prstGeom>
          <a:noFill/>
          <a:ln/>
        </p:spPr>
        <p:txBody>
          <a:bodyPr wrap="square" lIns="0" tIns="0" rIns="0" bIns="0" rtlCol="0" anchor="ctr"/>
          <a:lstStyle/>
          <a:p>
            <a:pPr indent="0" marL="0">
              <a:buNone/>
            </a:pPr>
            <a:r>
              <a:rPr lang="en-US" sz="800" b="1" spc="300" kern="0" dirty="0">
                <a:solidFill>
                  <a:srgbClr val="6366F1"/>
                </a:solidFill>
                <a:latin typeface="Calibri" pitchFamily="34" charset="0"/>
                <a:ea typeface="Calibri" pitchFamily="34" charset="-122"/>
                <a:cs typeface="Calibri" pitchFamily="34" charset="-120"/>
              </a:rPr>
              <a:t>ABOUT THIS PRESENTATION</a:t>
            </a:r>
            <a:endParaRPr lang="en-US" sz="800" dirty="0"/>
          </a:p>
        </p:txBody>
      </p:sp>
      <p:sp>
        <p:nvSpPr>
          <p:cNvPr id="4" name="Text 2"/>
          <p:cNvSpPr/>
          <p:nvPr/>
        </p:nvSpPr>
        <p:spPr>
          <a:xfrm>
            <a:off x="411480" y="640080"/>
            <a:ext cx="7772400" cy="64008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A practitioner's guide to AI in advertising and marketing</a:t>
            </a:r>
            <a:endParaRPr lang="en-US" sz="2400" dirty="0"/>
          </a:p>
        </p:txBody>
      </p:sp>
      <p:sp>
        <p:nvSpPr>
          <p:cNvPr id="5" name="Shape 3"/>
          <p:cNvSpPr/>
          <p:nvPr/>
        </p:nvSpPr>
        <p:spPr>
          <a:xfrm>
            <a:off x="411480" y="1371600"/>
            <a:ext cx="8321040" cy="0"/>
          </a:xfrm>
          <a:prstGeom prst="line">
            <a:avLst/>
          </a:prstGeom>
          <a:noFill/>
          <a:ln w="12700">
            <a:solidFill>
              <a:srgbClr val="E5E7EB"/>
            </a:solidFill>
            <a:prstDash val="solid"/>
          </a:ln>
        </p:spPr>
      </p:sp>
      <p:sp>
        <p:nvSpPr>
          <p:cNvPr id="6" name="Text 4"/>
          <p:cNvSpPr/>
          <p:nvPr/>
        </p:nvSpPr>
        <p:spPr>
          <a:xfrm>
            <a:off x="411480" y="1508760"/>
            <a:ext cx="3840480" cy="3200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What this is</a:t>
            </a:r>
            <a:endParaRPr lang="en-US" sz="1300" dirty="0"/>
          </a:p>
        </p:txBody>
      </p:sp>
      <p:sp>
        <p:nvSpPr>
          <p:cNvPr id="7" name="Text 5"/>
          <p:cNvSpPr/>
          <p:nvPr/>
        </p:nvSpPr>
        <p:spPr>
          <a:xfrm>
            <a:off x="411480" y="1874520"/>
            <a:ext cx="3794760" cy="237744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A curated, opinionated reference to AI tools built for advertising and marketing professionals. Not a generic directory. A strategic view of how these tools fit into agency workflows — across strategy, creative, production, and distribution.</a:t>
            </a:r>
            <a:endParaRPr lang="en-US" sz="1100" dirty="0"/>
          </a:p>
          <a:p>
            <a:pPr indent="0" marL="0">
              <a:buNone/>
            </a:pP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Every entry covers what the tool does, where it earns its place, and what it costs in time, money, and attention.</a:t>
            </a:r>
            <a:endParaRPr lang="en-US" sz="1100" dirty="0"/>
          </a:p>
        </p:txBody>
      </p:sp>
      <p:sp>
        <p:nvSpPr>
          <p:cNvPr id="8" name="Text 6"/>
          <p:cNvSpPr/>
          <p:nvPr/>
        </p:nvSpPr>
        <p:spPr>
          <a:xfrm>
            <a:off x="4480560" y="1508760"/>
            <a:ext cx="4251960" cy="3200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What makes this different</a:t>
            </a:r>
            <a:endParaRPr lang="en-US" sz="1300" dirty="0"/>
          </a:p>
        </p:txBody>
      </p:sp>
      <p:sp>
        <p:nvSpPr>
          <p:cNvPr id="9" name="Text 7"/>
          <p:cNvSpPr/>
          <p:nvPr/>
        </p:nvSpPr>
        <p:spPr>
          <a:xfrm>
            <a:off x="4480560" y="1874520"/>
            <a:ext cx="4251960" cy="2377440"/>
          </a:xfrm>
          <a:prstGeom prst="rect">
            <a:avLst/>
          </a:prstGeom>
          <a:noFill/>
          <a:ln/>
        </p:spPr>
        <p:txBody>
          <a:bodyPr wrap="square" rtlCol="0" anchor="t"/>
          <a:lstStyle/>
          <a:p>
            <a:pPr indent="0" marL="0">
              <a:buNone/>
            </a:pPr>
            <a:r>
              <a:rPr lang="en-US" sz="1100" b="1" dirty="0">
                <a:solidFill>
                  <a:srgbClr val="374151"/>
                </a:solidFill>
                <a:latin typeface="Calibri" pitchFamily="34" charset="0"/>
                <a:ea typeface="Calibri" pitchFamily="34" charset="-122"/>
                <a:cs typeface="Calibri" pitchFamily="34" charset="-120"/>
              </a:rPr>
              <a:t>Fluency over familiarity</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Not just knowing tool names — understanding how to deploy AI strategically across the agency.</a:t>
            </a:r>
            <a:endParaRPr lang="en-US" sz="1100" dirty="0"/>
          </a:p>
          <a:p>
            <a:pPr indent="0" marL="0">
              <a:buNone/>
            </a:pPr>
            <a:r>
              <a:rPr lang="en-US" sz="500" dirty="0">
                <a:solidFill>
                  <a:srgbClr val="374151"/>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374151"/>
                </a:solidFill>
                <a:latin typeface="Calibri" pitchFamily="34" charset="0"/>
                <a:ea typeface="Calibri" pitchFamily="34" charset="-122"/>
                <a:cs typeface="Calibri" pitchFamily="34" charset="-120"/>
              </a:rPr>
              <a:t>Practitioner voice</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Written from direct experience with many of these tools, not from press releases.</a:t>
            </a:r>
            <a:endParaRPr lang="en-US" sz="1100" dirty="0"/>
          </a:p>
          <a:p>
            <a:pPr indent="0" marL="0">
              <a:buNone/>
            </a:pPr>
            <a:r>
              <a:rPr lang="en-US" sz="500" dirty="0">
                <a:solidFill>
                  <a:srgbClr val="374151"/>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374151"/>
                </a:solidFill>
                <a:latin typeface="Calibri" pitchFamily="34" charset="0"/>
                <a:ea typeface="Calibri" pitchFamily="34" charset="-122"/>
                <a:cs typeface="Calibri" pitchFamily="34" charset="-120"/>
              </a:rPr>
              <a:t>Philosophy first</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The opening section covers how to think about AI before you touch any of these tools. That's the most differentiating part.</a:t>
            </a:r>
            <a:endParaRPr lang="en-US" sz="1100" dirty="0"/>
          </a:p>
        </p:txBody>
      </p:sp>
      <p:sp>
        <p:nvSpPr>
          <p:cNvPr id="10" name="Shape 8"/>
          <p:cNvSpPr/>
          <p:nvPr/>
        </p:nvSpPr>
        <p:spPr>
          <a:xfrm>
            <a:off x="0" y="4617720"/>
            <a:ext cx="9144000" cy="525780"/>
          </a:xfrm>
          <a:prstGeom prst="rect">
            <a:avLst/>
          </a:prstGeom>
          <a:solidFill>
            <a:srgbClr val="F8FAFC"/>
          </a:solidFill>
          <a:ln w="12700">
            <a:solidFill>
              <a:srgbClr val="F8FAFC"/>
            </a:solidFill>
            <a:prstDash val="solid"/>
          </a:ln>
        </p:spPr>
      </p:sp>
      <p:sp>
        <p:nvSpPr>
          <p:cNvPr id="11" name="Text 9"/>
          <p:cNvSpPr/>
          <p:nvPr/>
        </p:nvSpPr>
        <p:spPr>
          <a:xfrm>
            <a:off x="411480" y="4709160"/>
            <a:ext cx="82296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10 categories  ·  43+ tools  ·  Clean &amp; practitioner-focused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01</a:t>
            </a:r>
            <a:endParaRPr lang="en-US" sz="13000" dirty="0"/>
          </a:p>
        </p:txBody>
      </p:sp>
      <p:sp>
        <p:nvSpPr>
          <p:cNvPr id="3" name="Text 1"/>
          <p:cNvSpPr/>
          <p:nvPr/>
        </p:nvSpPr>
        <p:spPr>
          <a:xfrm>
            <a:off x="594360" y="1371600"/>
            <a:ext cx="7772400" cy="146304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AI Philosophy</a:t>
            </a:r>
            <a:endParaRPr lang="en-US" sz="3800" dirty="0"/>
          </a:p>
          <a:p>
            <a:pPr indent="0" marL="0">
              <a:buNone/>
            </a:pPr>
            <a:r>
              <a:rPr lang="en-US" sz="3800" b="1" dirty="0">
                <a:solidFill>
                  <a:srgbClr val="FFFFFF"/>
                </a:solidFill>
                <a:latin typeface="Calibri" pitchFamily="34" charset="0"/>
                <a:ea typeface="Calibri" pitchFamily="34" charset="-122"/>
                <a:cs typeface="Calibri" pitchFamily="34" charset="-120"/>
              </a:rPr>
              <a:t>&amp; Best Practices</a:t>
            </a:r>
            <a:endParaRPr lang="en-US" sz="3800" dirty="0"/>
          </a:p>
        </p:txBody>
      </p:sp>
      <p:sp>
        <p:nvSpPr>
          <p:cNvPr id="4" name="Text 2"/>
          <p:cNvSpPr/>
          <p:nvPr/>
        </p:nvSpPr>
        <p:spPr>
          <a:xfrm>
            <a:off x="594360" y="2926080"/>
            <a:ext cx="7315200" cy="45720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How to think about AI before you touch any of these tools</a:t>
            </a:r>
            <a:endParaRPr lang="en-US" sz="1400" dirty="0"/>
          </a:p>
        </p:txBody>
      </p:sp>
      <p:sp>
        <p:nvSpPr>
          <p:cNvPr id="5" name="Text 3"/>
          <p:cNvSpPr/>
          <p:nvPr/>
        </p:nvSpPr>
        <p:spPr>
          <a:xfrm>
            <a:off x="594360" y="3520440"/>
            <a:ext cx="2743200" cy="365760"/>
          </a:xfrm>
          <a:prstGeom prst="rect">
            <a:avLst/>
          </a:prstGeom>
          <a:noFill/>
          <a:ln/>
        </p:spPr>
        <p:txBody>
          <a:bodyPr wrap="square" lIns="0" tIns="0" rIns="0" bIns="0" rtlCol="0" anchor="ctr"/>
          <a:lstStyle/>
          <a:p>
            <a:pPr indent="0" marL="0">
              <a:buNone/>
            </a:pPr>
            <a:r>
              <a:rPr lang="en-US" sz="1100" dirty="0">
                <a:solidFill>
                  <a:srgbClr val="818CF8"/>
                </a:solidFill>
                <a:latin typeface="Calibri" pitchFamily="34" charset="0"/>
                <a:ea typeface="Calibri" pitchFamily="34" charset="-122"/>
                <a:cs typeface="Calibri" pitchFamily="34" charset="-120"/>
              </a:rPr>
              <a:t>3 principles</a:t>
            </a:r>
            <a:endParaRPr lang="en-US" sz="1100" dirty="0"/>
          </a:p>
        </p:txBody>
      </p:sp>
      <p:sp>
        <p:nvSpPr>
          <p:cNvPr id="6" name="Shape 4"/>
          <p:cNvSpPr/>
          <p:nvPr/>
        </p:nvSpPr>
        <p:spPr>
          <a:xfrm>
            <a:off x="0" y="4960620"/>
            <a:ext cx="9144000" cy="182880"/>
          </a:xfrm>
          <a:prstGeom prst="rect">
            <a:avLst/>
          </a:prstGeom>
          <a:solidFill>
            <a:srgbClr val="6366F1"/>
          </a:solidFill>
          <a:ln w="12700">
            <a:solidFill>
              <a:srgbClr val="6366F1"/>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411480" y="347472"/>
            <a:ext cx="8229600" cy="256032"/>
          </a:xfrm>
          <a:prstGeom prst="rect">
            <a:avLst/>
          </a:prstGeom>
          <a:noFill/>
          <a:ln/>
        </p:spPr>
        <p:txBody>
          <a:bodyPr wrap="square" lIns="0" tIns="0" rIns="0" bIns="0" rtlCol="0" anchor="ctr"/>
          <a:lstStyle/>
          <a:p>
            <a:pPr indent="0" marL="0">
              <a:buNone/>
            </a:pPr>
            <a:r>
              <a:rPr lang="en-US" sz="800" b="1" spc="300" kern="0" dirty="0">
                <a:solidFill>
                  <a:srgbClr val="6366F1"/>
                </a:solidFill>
                <a:latin typeface="Calibri" pitchFamily="34" charset="0"/>
                <a:ea typeface="Calibri" pitchFamily="34" charset="-122"/>
                <a:cs typeface="Calibri" pitchFamily="34" charset="-120"/>
              </a:rPr>
              <a:t>AI PHILOSOPHY</a:t>
            </a:r>
            <a:endParaRPr lang="en-US" sz="800" dirty="0"/>
          </a:p>
        </p:txBody>
      </p:sp>
      <p:sp>
        <p:nvSpPr>
          <p:cNvPr id="4" name="Text 2"/>
          <p:cNvSpPr/>
          <p:nvPr/>
        </p:nvSpPr>
        <p:spPr>
          <a:xfrm>
            <a:off x="411480" y="640080"/>
            <a:ext cx="7772400" cy="731520"/>
          </a:xfrm>
          <a:prstGeom prst="rect">
            <a:avLst/>
          </a:prstGeom>
          <a:noFill/>
          <a:ln/>
        </p:spPr>
        <p:txBody>
          <a:bodyPr wrap="square" lIns="0" tIns="0" rIns="0" bIns="0"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1  /  Start with intent, not the interface</a:t>
            </a:r>
            <a:endParaRPr lang="en-US" sz="2600" dirty="0"/>
          </a:p>
        </p:txBody>
      </p:sp>
      <p:sp>
        <p:nvSpPr>
          <p:cNvPr id="5" name="Shape 3"/>
          <p:cNvSpPr/>
          <p:nvPr/>
        </p:nvSpPr>
        <p:spPr>
          <a:xfrm>
            <a:off x="411480" y="1463040"/>
            <a:ext cx="8321040" cy="0"/>
          </a:xfrm>
          <a:prstGeom prst="line">
            <a:avLst/>
          </a:prstGeom>
          <a:noFill/>
          <a:ln w="12700">
            <a:solidFill>
              <a:srgbClr val="E5E7EB"/>
            </a:solidFill>
            <a:prstDash val="solid"/>
          </a:ln>
        </p:spPr>
      </p:sp>
      <p:sp>
        <p:nvSpPr>
          <p:cNvPr id="6" name="Text 4"/>
          <p:cNvSpPr/>
          <p:nvPr/>
        </p:nvSpPr>
        <p:spPr>
          <a:xfrm>
            <a:off x="411480" y="1600200"/>
            <a:ext cx="5394960" cy="2743200"/>
          </a:xfrm>
          <a:prstGeom prst="rect">
            <a:avLst/>
          </a:prstGeom>
          <a:noFill/>
          <a:ln/>
        </p:spPr>
        <p:txBody>
          <a:bodyPr wrap="square" rtlCol="0" anchor="t"/>
          <a:lstStyle/>
          <a:p>
            <a:pPr indent="0" marL="0">
              <a:buNone/>
            </a:pPr>
            <a:r>
              <a:rPr lang="en-US" sz="1300" dirty="0">
                <a:solidFill>
                  <a:srgbClr val="374151"/>
                </a:solidFill>
                <a:latin typeface="Calibri" pitchFamily="34" charset="0"/>
                <a:ea typeface="Calibri" pitchFamily="34" charset="-122"/>
                <a:cs typeface="Calibri" pitchFamily="34" charset="-120"/>
              </a:rPr>
              <a:t>The quality of your AI output is a function of the clarity of your thinking before you prompt. Most people treat AI like a search engine — vague input, vague output, frustration, repeat.</a:t>
            </a:r>
            <a:endParaRPr lang="en-US" sz="1300" dirty="0"/>
          </a:p>
          <a:p>
            <a:pPr indent="0" marL="0">
              <a:buNone/>
            </a:pPr>
            <a:endParaRPr lang="en-US" sz="1300" dirty="0"/>
          </a:p>
          <a:p>
            <a:pPr indent="0" marL="0">
              <a:buNone/>
            </a:pPr>
            <a:r>
              <a:rPr lang="en-US" sz="1300" dirty="0">
                <a:solidFill>
                  <a:srgbClr val="374151"/>
                </a:solidFill>
                <a:latin typeface="Calibri" pitchFamily="34" charset="0"/>
                <a:ea typeface="Calibri" pitchFamily="34" charset="-122"/>
                <a:cs typeface="Calibri" pitchFamily="34" charset="-120"/>
              </a:rPr>
              <a:t>The practitioners getting real value from these tools spend more time defining the problem, the audience, the constraint, and the tone before they type anything. The interface is the last step in the process, not the first.</a:t>
            </a:r>
            <a:endParaRPr lang="en-US" sz="1300" dirty="0"/>
          </a:p>
          <a:p>
            <a:pPr indent="0" marL="0">
              <a:buNone/>
            </a:pPr>
            <a:endParaRPr lang="en-US" sz="1300" dirty="0"/>
          </a:p>
          <a:p>
            <a:pPr indent="0" marL="0">
              <a:buNone/>
            </a:pPr>
            <a:r>
              <a:rPr lang="en-US" sz="1300" dirty="0">
                <a:solidFill>
                  <a:srgbClr val="374151"/>
                </a:solidFill>
                <a:latin typeface="Calibri" pitchFamily="34" charset="0"/>
                <a:ea typeface="Calibri" pitchFamily="34" charset="-122"/>
                <a:cs typeface="Calibri" pitchFamily="34" charset="-120"/>
              </a:rPr>
              <a:t>Building a structured brief — even a short one — before opening any AI tool is the single most consistent differentiator between professionals who find these tools transformative and those who find them unreliable.</a:t>
            </a:r>
            <a:endParaRPr lang="en-US" sz="1300" dirty="0"/>
          </a:p>
        </p:txBody>
      </p:sp>
      <p:sp>
        <p:nvSpPr>
          <p:cNvPr id="7" name="Shape 5"/>
          <p:cNvSpPr/>
          <p:nvPr/>
        </p:nvSpPr>
        <p:spPr>
          <a:xfrm>
            <a:off x="6080760" y="1600200"/>
            <a:ext cx="2743200" cy="2286000"/>
          </a:xfrm>
          <a:prstGeom prst="rect">
            <a:avLst/>
          </a:prstGeom>
          <a:solidFill>
            <a:srgbClr val="EEF2FF"/>
          </a:solidFill>
          <a:ln w="12700">
            <a:solidFill>
              <a:srgbClr val="C7D2FE"/>
            </a:solidFill>
            <a:prstDash val="solid"/>
          </a:ln>
        </p:spPr>
      </p:sp>
      <p:sp>
        <p:nvSpPr>
          <p:cNvPr id="8" name="Text 6"/>
          <p:cNvSpPr/>
          <p:nvPr/>
        </p:nvSpPr>
        <p:spPr>
          <a:xfrm>
            <a:off x="6263640" y="1783080"/>
            <a:ext cx="2377440" cy="1920240"/>
          </a:xfrm>
          <a:prstGeom prst="rect">
            <a:avLst/>
          </a:prstGeom>
          <a:noFill/>
          <a:ln/>
        </p:spPr>
        <p:txBody>
          <a:bodyPr wrap="square" rtlCol="0" anchor="ctr"/>
          <a:lstStyle/>
          <a:p>
            <a:pPr algn="ctr" indent="0" marL="0">
              <a:buNone/>
            </a:pPr>
            <a:r>
              <a:rPr lang="en-US" sz="1200" i="1" dirty="0">
                <a:solidFill>
                  <a:srgbClr val="6366F1"/>
                </a:solidFill>
                <a:latin typeface="Calibri" pitchFamily="34" charset="0"/>
                <a:ea typeface="Calibri" pitchFamily="34" charset="-122"/>
                <a:cs typeface="Calibri" pitchFamily="34" charset="-120"/>
              </a:rPr>
              <a:t>The prompt is the last step, not the first.</a:t>
            </a:r>
            <a:endParaRPr lang="en-US" sz="1200" dirty="0"/>
          </a:p>
        </p:txBody>
      </p:sp>
      <p:sp>
        <p:nvSpPr>
          <p:cNvPr id="9" name="Shape 7"/>
          <p:cNvSpPr/>
          <p:nvPr/>
        </p:nvSpPr>
        <p:spPr>
          <a:xfrm>
            <a:off x="0" y="4617720"/>
            <a:ext cx="9144000" cy="525780"/>
          </a:xfrm>
          <a:prstGeom prst="rect">
            <a:avLst/>
          </a:prstGeom>
          <a:solidFill>
            <a:srgbClr val="F8FAFC"/>
          </a:solidFill>
          <a:ln w="12700">
            <a:solidFill>
              <a:srgbClr val="F8FAFC"/>
            </a:solidFill>
            <a:prstDash val="solid"/>
          </a:ln>
        </p:spPr>
      </p:sp>
      <p:sp>
        <p:nvSpPr>
          <p:cNvPr id="10" name="Text 8"/>
          <p:cNvSpPr/>
          <p:nvPr/>
        </p:nvSpPr>
        <p:spPr>
          <a:xfrm>
            <a:off x="411480" y="4709160"/>
            <a:ext cx="82296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Principle 1 of 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411480" y="347472"/>
            <a:ext cx="8229600" cy="256032"/>
          </a:xfrm>
          <a:prstGeom prst="rect">
            <a:avLst/>
          </a:prstGeom>
          <a:noFill/>
          <a:ln/>
        </p:spPr>
        <p:txBody>
          <a:bodyPr wrap="square" lIns="0" tIns="0" rIns="0" bIns="0" rtlCol="0" anchor="ctr"/>
          <a:lstStyle/>
          <a:p>
            <a:pPr indent="0" marL="0">
              <a:buNone/>
            </a:pPr>
            <a:r>
              <a:rPr lang="en-US" sz="800" b="1" spc="300" kern="0" dirty="0">
                <a:solidFill>
                  <a:srgbClr val="6366F1"/>
                </a:solidFill>
                <a:latin typeface="Calibri" pitchFamily="34" charset="0"/>
                <a:ea typeface="Calibri" pitchFamily="34" charset="-122"/>
                <a:cs typeface="Calibri" pitchFamily="34" charset="-120"/>
              </a:rPr>
              <a:t>AI PHILOSOPHY</a:t>
            </a:r>
            <a:endParaRPr lang="en-US" sz="800" dirty="0"/>
          </a:p>
        </p:txBody>
      </p:sp>
      <p:sp>
        <p:nvSpPr>
          <p:cNvPr id="4" name="Text 2"/>
          <p:cNvSpPr/>
          <p:nvPr/>
        </p:nvSpPr>
        <p:spPr>
          <a:xfrm>
            <a:off x="411480" y="640080"/>
            <a:ext cx="7772400" cy="731520"/>
          </a:xfrm>
          <a:prstGeom prst="rect">
            <a:avLst/>
          </a:prstGeom>
          <a:noFill/>
          <a:ln/>
        </p:spPr>
        <p:txBody>
          <a:bodyPr wrap="square" lIns="0" tIns="0" rIns="0" bIns="0"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2  /  AI as collaborator, not autopilot</a:t>
            </a:r>
            <a:endParaRPr lang="en-US" sz="2600" dirty="0"/>
          </a:p>
        </p:txBody>
      </p:sp>
      <p:sp>
        <p:nvSpPr>
          <p:cNvPr id="5" name="Shape 3"/>
          <p:cNvSpPr/>
          <p:nvPr/>
        </p:nvSpPr>
        <p:spPr>
          <a:xfrm>
            <a:off x="411480" y="1463040"/>
            <a:ext cx="8321040" cy="0"/>
          </a:xfrm>
          <a:prstGeom prst="line">
            <a:avLst/>
          </a:prstGeom>
          <a:noFill/>
          <a:ln w="12700">
            <a:solidFill>
              <a:srgbClr val="E5E7EB"/>
            </a:solidFill>
            <a:prstDash val="solid"/>
          </a:ln>
        </p:spPr>
      </p:sp>
      <p:sp>
        <p:nvSpPr>
          <p:cNvPr id="6" name="Text 4"/>
          <p:cNvSpPr/>
          <p:nvPr/>
        </p:nvSpPr>
        <p:spPr>
          <a:xfrm>
            <a:off x="411480" y="1600200"/>
            <a:ext cx="5394960" cy="2743200"/>
          </a:xfrm>
          <a:prstGeom prst="rect">
            <a:avLst/>
          </a:prstGeom>
          <a:noFill/>
          <a:ln/>
        </p:spPr>
        <p:txBody>
          <a:bodyPr wrap="square" rtlCol="0" anchor="t"/>
          <a:lstStyle/>
          <a:p>
            <a:pPr indent="0" marL="0">
              <a:buNone/>
            </a:pPr>
            <a:r>
              <a:rPr lang="en-US" sz="1300" dirty="0">
                <a:solidFill>
                  <a:srgbClr val="374151"/>
                </a:solidFill>
                <a:latin typeface="Calibri" pitchFamily="34" charset="0"/>
                <a:ea typeface="Calibri" pitchFamily="34" charset="-122"/>
                <a:cs typeface="Calibri" pitchFamily="34" charset="-120"/>
              </a:rPr>
              <a:t>The most dangerous way to use AI is to treat it as an authority. These models are trained to sound confident, which means they can be wrong with great conviction. A hallucinated statistic delivered in perfect prose is still a hallucination.</a:t>
            </a:r>
            <a:endParaRPr lang="en-US" sz="1300" dirty="0"/>
          </a:p>
          <a:p>
            <a:pPr indent="0" marL="0">
              <a:buNone/>
            </a:pPr>
            <a:endParaRPr lang="en-US" sz="1300" dirty="0"/>
          </a:p>
          <a:p>
            <a:pPr indent="0" marL="0">
              <a:buNone/>
            </a:pPr>
            <a:r>
              <a:rPr lang="en-US" sz="1300" dirty="0">
                <a:solidFill>
                  <a:srgbClr val="374151"/>
                </a:solidFill>
                <a:latin typeface="Calibri" pitchFamily="34" charset="0"/>
                <a:ea typeface="Calibri" pitchFamily="34" charset="-122"/>
                <a:cs typeface="Calibri" pitchFamily="34" charset="-120"/>
              </a:rPr>
              <a:t>The teams getting consistent value from AI maintain critical distance. They use it to generate and explore, then apply their own judgment to evaluate and decide. Remove the human judgment from the loop and you've removed the most valuable part.</a:t>
            </a:r>
            <a:endParaRPr lang="en-US" sz="1300" dirty="0"/>
          </a:p>
          <a:p>
            <a:pPr indent="0" marL="0">
              <a:buNone/>
            </a:pPr>
            <a:endParaRPr lang="en-US" sz="1300" dirty="0"/>
          </a:p>
          <a:p>
            <a:pPr indent="0" marL="0">
              <a:buNone/>
            </a:pPr>
            <a:r>
              <a:rPr lang="en-US" sz="1300" dirty="0">
                <a:solidFill>
                  <a:srgbClr val="374151"/>
                </a:solidFill>
                <a:latin typeface="Calibri" pitchFamily="34" charset="0"/>
                <a:ea typeface="Calibri" pitchFamily="34" charset="-122"/>
                <a:cs typeface="Calibri" pitchFamily="34" charset="-120"/>
              </a:rPr>
              <a:t>AI works best when you're directing it, not following it. The goal is faster thinking, not outsourced thinking.</a:t>
            </a:r>
            <a:endParaRPr lang="en-US" sz="1300" dirty="0"/>
          </a:p>
        </p:txBody>
      </p:sp>
      <p:sp>
        <p:nvSpPr>
          <p:cNvPr id="7" name="Shape 5"/>
          <p:cNvSpPr/>
          <p:nvPr/>
        </p:nvSpPr>
        <p:spPr>
          <a:xfrm>
            <a:off x="6080760" y="1600200"/>
            <a:ext cx="2743200" cy="2286000"/>
          </a:xfrm>
          <a:prstGeom prst="rect">
            <a:avLst/>
          </a:prstGeom>
          <a:solidFill>
            <a:srgbClr val="EEF2FF"/>
          </a:solidFill>
          <a:ln w="12700">
            <a:solidFill>
              <a:srgbClr val="C7D2FE"/>
            </a:solidFill>
            <a:prstDash val="solid"/>
          </a:ln>
        </p:spPr>
      </p:sp>
      <p:sp>
        <p:nvSpPr>
          <p:cNvPr id="8" name="Text 6"/>
          <p:cNvSpPr/>
          <p:nvPr/>
        </p:nvSpPr>
        <p:spPr>
          <a:xfrm>
            <a:off x="6263640" y="1783080"/>
            <a:ext cx="2377440" cy="1920240"/>
          </a:xfrm>
          <a:prstGeom prst="rect">
            <a:avLst/>
          </a:prstGeom>
          <a:noFill/>
          <a:ln/>
        </p:spPr>
        <p:txBody>
          <a:bodyPr wrap="square" rtlCol="0" anchor="ctr"/>
          <a:lstStyle/>
          <a:p>
            <a:pPr algn="ctr" indent="0" marL="0">
              <a:buNone/>
            </a:pPr>
            <a:r>
              <a:rPr lang="en-US" sz="1200" i="1" dirty="0">
                <a:solidFill>
                  <a:srgbClr val="6366F1"/>
                </a:solidFill>
                <a:latin typeface="Calibri" pitchFamily="34" charset="0"/>
                <a:ea typeface="Calibri" pitchFamily="34" charset="-122"/>
                <a:cs typeface="Calibri" pitchFamily="34" charset="-120"/>
              </a:rPr>
              <a:t>The model generates. You decide. That sequence matters.</a:t>
            </a:r>
            <a:endParaRPr lang="en-US" sz="1200" dirty="0"/>
          </a:p>
        </p:txBody>
      </p:sp>
      <p:sp>
        <p:nvSpPr>
          <p:cNvPr id="9" name="Shape 7"/>
          <p:cNvSpPr/>
          <p:nvPr/>
        </p:nvSpPr>
        <p:spPr>
          <a:xfrm>
            <a:off x="0" y="4617720"/>
            <a:ext cx="9144000" cy="525780"/>
          </a:xfrm>
          <a:prstGeom prst="rect">
            <a:avLst/>
          </a:prstGeom>
          <a:solidFill>
            <a:srgbClr val="F8FAFC"/>
          </a:solidFill>
          <a:ln w="12700">
            <a:solidFill>
              <a:srgbClr val="F8FAFC"/>
            </a:solidFill>
            <a:prstDash val="solid"/>
          </a:ln>
        </p:spPr>
      </p:sp>
      <p:sp>
        <p:nvSpPr>
          <p:cNvPr id="10" name="Text 8"/>
          <p:cNvSpPr/>
          <p:nvPr/>
        </p:nvSpPr>
        <p:spPr>
          <a:xfrm>
            <a:off x="411480" y="4709160"/>
            <a:ext cx="82296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Principle 2 of 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411480" y="347472"/>
            <a:ext cx="8229600" cy="256032"/>
          </a:xfrm>
          <a:prstGeom prst="rect">
            <a:avLst/>
          </a:prstGeom>
          <a:noFill/>
          <a:ln/>
        </p:spPr>
        <p:txBody>
          <a:bodyPr wrap="square" lIns="0" tIns="0" rIns="0" bIns="0" rtlCol="0" anchor="ctr"/>
          <a:lstStyle/>
          <a:p>
            <a:pPr indent="0" marL="0">
              <a:buNone/>
            </a:pPr>
            <a:r>
              <a:rPr lang="en-US" sz="800" b="1" spc="300" kern="0" dirty="0">
                <a:solidFill>
                  <a:srgbClr val="6366F1"/>
                </a:solidFill>
                <a:latin typeface="Calibri" pitchFamily="34" charset="0"/>
                <a:ea typeface="Calibri" pitchFamily="34" charset="-122"/>
                <a:cs typeface="Calibri" pitchFamily="34" charset="-120"/>
              </a:rPr>
              <a:t>AI PHILOSOPHY</a:t>
            </a:r>
            <a:endParaRPr lang="en-US" sz="800" dirty="0"/>
          </a:p>
        </p:txBody>
      </p:sp>
      <p:sp>
        <p:nvSpPr>
          <p:cNvPr id="4" name="Text 2"/>
          <p:cNvSpPr/>
          <p:nvPr/>
        </p:nvSpPr>
        <p:spPr>
          <a:xfrm>
            <a:off x="411480" y="640080"/>
            <a:ext cx="7772400" cy="731520"/>
          </a:xfrm>
          <a:prstGeom prst="rect">
            <a:avLst/>
          </a:prstGeom>
          <a:noFill/>
          <a:ln/>
        </p:spPr>
        <p:txBody>
          <a:bodyPr wrap="square" lIns="0" tIns="0" rIns="0" bIns="0"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3  /  Context is the prompt</a:t>
            </a:r>
            <a:endParaRPr lang="en-US" sz="2600" dirty="0"/>
          </a:p>
        </p:txBody>
      </p:sp>
      <p:sp>
        <p:nvSpPr>
          <p:cNvPr id="5" name="Shape 3"/>
          <p:cNvSpPr/>
          <p:nvPr/>
        </p:nvSpPr>
        <p:spPr>
          <a:xfrm>
            <a:off x="411480" y="1463040"/>
            <a:ext cx="8321040" cy="0"/>
          </a:xfrm>
          <a:prstGeom prst="line">
            <a:avLst/>
          </a:prstGeom>
          <a:noFill/>
          <a:ln w="12700">
            <a:solidFill>
              <a:srgbClr val="E5E7EB"/>
            </a:solidFill>
            <a:prstDash val="solid"/>
          </a:ln>
        </p:spPr>
      </p:sp>
      <p:sp>
        <p:nvSpPr>
          <p:cNvPr id="6" name="Text 4"/>
          <p:cNvSpPr/>
          <p:nvPr/>
        </p:nvSpPr>
        <p:spPr>
          <a:xfrm>
            <a:off x="411480" y="1600200"/>
            <a:ext cx="5394960" cy="2743200"/>
          </a:xfrm>
          <a:prstGeom prst="rect">
            <a:avLst/>
          </a:prstGeom>
          <a:noFill/>
          <a:ln/>
        </p:spPr>
        <p:txBody>
          <a:bodyPr wrap="square" rtlCol="0" anchor="t"/>
          <a:lstStyle/>
          <a:p>
            <a:pPr indent="0" marL="0">
              <a:buNone/>
            </a:pPr>
            <a:r>
              <a:rPr lang="en-US" sz="1300" dirty="0">
                <a:solidFill>
                  <a:srgbClr val="374151"/>
                </a:solidFill>
                <a:latin typeface="Calibri" pitchFamily="34" charset="0"/>
                <a:ea typeface="Calibri" pitchFamily="34" charset="-122"/>
                <a:cs typeface="Calibri" pitchFamily="34" charset="-120"/>
              </a:rPr>
              <a:t>The difference between a mediocre AI output and a useful one is almost never the prompt. It's the context that surrounds it.</a:t>
            </a:r>
            <a:endParaRPr lang="en-US" sz="1300" dirty="0"/>
          </a:p>
          <a:p>
            <a:pPr indent="0" marL="0">
              <a:buNone/>
            </a:pPr>
            <a:endParaRPr lang="en-US" sz="1300" dirty="0"/>
          </a:p>
          <a:p>
            <a:pPr indent="0" marL="0">
              <a:buNone/>
            </a:pPr>
            <a:r>
              <a:rPr lang="en-US" sz="1300" dirty="0">
                <a:solidFill>
                  <a:srgbClr val="374151"/>
                </a:solidFill>
                <a:latin typeface="Calibri" pitchFamily="34" charset="0"/>
                <a:ea typeface="Calibri" pitchFamily="34" charset="-122"/>
                <a:cs typeface="Calibri" pitchFamily="34" charset="-120"/>
              </a:rPr>
              <a:t>The model needs to know who it's talking to, what they already know, what matters most, what to avoid, and what success looks like. A well-structured context — brand guidelines, audience profiles, strategic constraints, examples of what good looks like — is what separates fluency from familiarity.</a:t>
            </a:r>
            <a:endParaRPr lang="en-US" sz="1300" dirty="0"/>
          </a:p>
          <a:p>
            <a:pPr indent="0" marL="0">
              <a:buNone/>
            </a:pPr>
            <a:endParaRPr lang="en-US" sz="1300" dirty="0"/>
          </a:p>
          <a:p>
            <a:pPr indent="0" marL="0">
              <a:buNone/>
            </a:pPr>
            <a:r>
              <a:rPr lang="en-US" sz="1300" dirty="0">
                <a:solidFill>
                  <a:srgbClr val="374151"/>
                </a:solidFill>
                <a:latin typeface="Calibri" pitchFamily="34" charset="0"/>
                <a:ea typeface="Calibri" pitchFamily="34" charset="-122"/>
                <a:cs typeface="Calibri" pitchFamily="34" charset="-120"/>
              </a:rPr>
              <a:t>Professionals who build persistent context libraries for recurring clients and categories stop re-explaining the same things repeatedly. That's where real efficiency compounds.</a:t>
            </a:r>
            <a:endParaRPr lang="en-US" sz="1300" dirty="0"/>
          </a:p>
        </p:txBody>
      </p:sp>
      <p:sp>
        <p:nvSpPr>
          <p:cNvPr id="7" name="Shape 5"/>
          <p:cNvSpPr/>
          <p:nvPr/>
        </p:nvSpPr>
        <p:spPr>
          <a:xfrm>
            <a:off x="6080760" y="1600200"/>
            <a:ext cx="2743200" cy="2286000"/>
          </a:xfrm>
          <a:prstGeom prst="rect">
            <a:avLst/>
          </a:prstGeom>
          <a:solidFill>
            <a:srgbClr val="EEF2FF"/>
          </a:solidFill>
          <a:ln w="12700">
            <a:solidFill>
              <a:srgbClr val="C7D2FE"/>
            </a:solidFill>
            <a:prstDash val="solid"/>
          </a:ln>
        </p:spPr>
      </p:sp>
      <p:sp>
        <p:nvSpPr>
          <p:cNvPr id="8" name="Text 6"/>
          <p:cNvSpPr/>
          <p:nvPr/>
        </p:nvSpPr>
        <p:spPr>
          <a:xfrm>
            <a:off x="6263640" y="1783080"/>
            <a:ext cx="2377440" cy="1920240"/>
          </a:xfrm>
          <a:prstGeom prst="rect">
            <a:avLst/>
          </a:prstGeom>
          <a:noFill/>
          <a:ln/>
        </p:spPr>
        <p:txBody>
          <a:bodyPr wrap="square" rtlCol="0" anchor="ctr"/>
          <a:lstStyle/>
          <a:p>
            <a:pPr algn="ctr" indent="0" marL="0">
              <a:buNone/>
            </a:pPr>
            <a:r>
              <a:rPr lang="en-US" sz="1200" i="1" dirty="0">
                <a:solidFill>
                  <a:srgbClr val="6366F1"/>
                </a:solidFill>
                <a:latin typeface="Calibri" pitchFamily="34" charset="0"/>
                <a:ea typeface="Calibri" pitchFamily="34" charset="-122"/>
                <a:cs typeface="Calibri" pitchFamily="34" charset="-120"/>
              </a:rPr>
              <a:t>Give the model the same information you'd give a new hire on day one.</a:t>
            </a:r>
            <a:endParaRPr lang="en-US" sz="1200" dirty="0"/>
          </a:p>
        </p:txBody>
      </p:sp>
      <p:sp>
        <p:nvSpPr>
          <p:cNvPr id="9" name="Shape 7"/>
          <p:cNvSpPr/>
          <p:nvPr/>
        </p:nvSpPr>
        <p:spPr>
          <a:xfrm>
            <a:off x="0" y="4617720"/>
            <a:ext cx="9144000" cy="525780"/>
          </a:xfrm>
          <a:prstGeom prst="rect">
            <a:avLst/>
          </a:prstGeom>
          <a:solidFill>
            <a:srgbClr val="F8FAFC"/>
          </a:solidFill>
          <a:ln w="12700">
            <a:solidFill>
              <a:srgbClr val="F8FAFC"/>
            </a:solidFill>
            <a:prstDash val="solid"/>
          </a:ln>
        </p:spPr>
      </p:sp>
      <p:sp>
        <p:nvSpPr>
          <p:cNvPr id="10" name="Text 8"/>
          <p:cNvSpPr/>
          <p:nvPr/>
        </p:nvSpPr>
        <p:spPr>
          <a:xfrm>
            <a:off x="411480" y="4709160"/>
            <a:ext cx="82296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Principle 3 of 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02</a:t>
            </a:r>
            <a:endParaRPr lang="en-US" sz="13000" dirty="0"/>
          </a:p>
        </p:txBody>
      </p:sp>
      <p:sp>
        <p:nvSpPr>
          <p:cNvPr id="3" name="Shape 1"/>
          <p:cNvSpPr/>
          <p:nvPr/>
        </p:nvSpPr>
        <p:spPr>
          <a:xfrm>
            <a:off x="594360" y="1508760"/>
            <a:ext cx="457200" cy="64008"/>
          </a:xfrm>
          <a:prstGeom prst="rect">
            <a:avLst/>
          </a:prstGeom>
          <a:solidFill>
            <a:srgbClr val="6366F1"/>
          </a:solidFill>
          <a:ln w="12700">
            <a:solidFill>
              <a:srgbClr val="6366F1"/>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LLMs &amp; Thinking Tools</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The foundation layer — language models for reasoning, research, and strategy</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6366F1"/>
                </a:solidFill>
                <a:latin typeface="Calibri" pitchFamily="34" charset="0"/>
                <a:ea typeface="Calibri" pitchFamily="34" charset="-122"/>
                <a:cs typeface="Calibri" pitchFamily="34" charset="-120"/>
              </a:rPr>
              <a:t>6 tools in this section</a:t>
            </a:r>
            <a:endParaRPr lang="en-US" sz="1100" dirty="0"/>
          </a:p>
        </p:txBody>
      </p:sp>
      <p:sp>
        <p:nvSpPr>
          <p:cNvPr id="7" name="Shape 5"/>
          <p:cNvSpPr/>
          <p:nvPr/>
        </p:nvSpPr>
        <p:spPr>
          <a:xfrm>
            <a:off x="0" y="4960620"/>
            <a:ext cx="9144000" cy="182880"/>
          </a:xfrm>
          <a:prstGeom prst="rect">
            <a:avLst/>
          </a:prstGeom>
          <a:solidFill>
            <a:srgbClr val="6366F1"/>
          </a:solidFill>
          <a:ln w="12700">
            <a:solidFill>
              <a:srgbClr val="6366F1"/>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Claude</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LLMS &amp; THINKING TOOLS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Anthropic</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 Pro $20/mo / Team / Enterprise</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The LLM built for sustained, nuanced reasoning</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Claude is Anthropic's AI model family built around safety, nuance, and extended reasoning. It excels at sustained analysis, long-document work, and complex writing tasks. The 200K token context window makes it effective for large briefs, research synthesis, and multi-document comparison.</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Strategy and account teams handling dense information work. Writers who need a thoughtful collaborator, not a content factory.</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Projects to build a persistent context for each client or campaign. Feed in brand guidelines, past briefs, and audience research before prompting. Extended thinking mode is worth enabling when you want the model to reason through trade-offs before responding.</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Extended thinking mode for deep reasoning on complex problems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Projects keep persistent context across sessions — no re-briefing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Artifacts create shareable outputs directly in the interface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Claude Code and Claude Cowork extend it into developer and desktop workflows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Image generation limited compared to dedicated tools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 real-time web search in the base version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Gets the most value from careful setup, not just quick prompts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Extended thinking, Projects, Artifacts, Claude Code, Claude Cowork</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claude.ai</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ChatGPT</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LLMS &amp; THINKING TOOLS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OpenAI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 Plus $20/mo / Team / Enterprise</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The broadest general-purpose AI assistant, with the widest feature surface</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ChatGPT is OpenAI's consumer and enterprise AI platform running on the GPT-5 model family. It covers text, image generation via GPT Image 2, voice, code, data analysis, and web search — making it the most feature-complete general-purpose AI assistant available.</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All team functions. The default starting point for anyone entering AI-assisted work.</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Deep Research for competitive analysis and audience research before campaign strategy. Build custom GPTs for repetitive agency tasks like brief formatting or copy reviewing. Set a clear system prompt when using for brand voice work.</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Deep Research generates multi-source research reports in minutes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GPT Image 2 handles text-in-image better than any prior model</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Custom GPTs for team-specific and agency-specific use cases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Broad integrations with other tools via plugins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 quality varies meaningfully by model tier and prompt discipline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Tendency toward confident-sounding answers that occasionally miss the mark</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Image generation still lags Midjourney for photographic quality</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Deep Research, GPT Image 2, o3 reasoning mode, custom GPTs, voice mode</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chat.openai.com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Gemini</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LLMS &amp; THINKING TOOLS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Google</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 Google AI Pro / Ultra</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The best option for teams already living in the Google ecosystem</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Gemini is Google's AI model family, integrated directly into Google Workspace, Search, Ads, and Drive. For agencies running on Google tools, it offers the tightest workflow integration of any LLM — with multimodal capabilities across text, image, audio, and video.</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Account teams and planners working in Google Docs, Sheets, and Slides. Media teams running Google Ads campaigns.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Enable Gemini in Google Docs for real-time drafting within existing workflows. Use Deep Research for category and audience background before a pitch. For Google Ads teams, explore the native Nano Banana integration for campaign visual asset generation.</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Native Workspace integration reduces copy-paste workflows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Deep Research competes directly with ChatGPT's version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Google Ads integration for campaign asset generation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Nano Banana handles image generation within the ecosystem</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distinctive voice and personality than Claude or ChatGPT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Integration quality varies across Google products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Weaker on sustained creative writing tasks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Workspace integration, Deep Research, Nano Banana image generation, multimodal inputs</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gemini.google.com</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Perplexity</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LLMS &amp; THINKING TOOLS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Perplexity 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 Pro $20/mo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AI search that shows its work</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Perplexity is an AI search engine that retrieves current information from the web and presents it with inline citations. Every answer is grounded in real sources you can verify. Perplexity Pages turns research into shareable visual documents that can be sent to clients or used internally.</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Strategists and planners doing category research, competitive monitoring, and cultural trend tracking.</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it as the first stop for any new category or brand you're unfamiliar with. Run a Perplexity Pages report on a client's competitive landscape and share it internally before briefing. Set up recurring searches on brand names to monitor mentions.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Real-time web retrieval keeps answers current — not limited to training data</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Every claim is cited with a source link you can check</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Perplexity Pages creates shareable research assets from any query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Faster for research tasks than building a ChatGPT Deep Research prompt</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Analysis depth is shallower than Deep Research for complex topics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suited for creative or generative tasks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Source quality depends on what Perplexity indexes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Citation-backed answers, real-time web search, Perplexity Pages, Pro Search</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perplexity.ai</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Grok</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LLMS &amp; THINKING TOOLS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xAI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with X account / X Premium+ for full access</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The model with real-time access to X</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Grok is xAI's AI assistant, embedded within the X platform and available as a standalone product. Its primary differentiator is real-time access to X data, making it more current than most LLMs for trending conversations, cultural moments, and public sentiment.</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Social media strategists and planners tracking cultural conversation, meme trends, and real-time sentiment on X.</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for cultural and conversational research before campaign ideation. If you need to know what people are actually saying about a brand or cultural moment on X right now, Grok has access others don't. Not the primary tool for deep strategy documents.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Unmatched access to real-time X data no other model has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Good for trend identification and cultural context research</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restrictive than some competitors on opinion-based prompts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Capable general reasoning across most common task types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X ecosystem bias limits breadth of cultural coverage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General reasoning still behind Claude and GPT-5</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established for professional agency workflows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Image generation capabilities more limited</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Real-time X data access, Aurora image generation, DeepSearch web browsing</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grok.com</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GPT-5.5</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LLMS &amp; THINKING TOOLS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OpenAI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ChatGPT Plus+. API: $5/M input, $30/M output</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OpenAI's newest flagship, built for sustained multi-step knowledge work</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GPT-5.5 is OpenAI's April 2026 flagship update and the new default model for ChatGPT Plus subscribers and above. It features a 1 million token context window via API, meaningful improvements in agentic tasks and sustained reasoning, and a Pro tier for deeper reasoning on complex problems.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Agencies using ChatGPT for complex strategy documents, competitive analyses, or research synthesis where context span and task quality matter more than speed.</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the 1M context window for large document analysis via API. For standard ChatGPT users, the quality improvement is most noticeable on sustained, multi-step tasks rather than quick single-turn questions.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1M token context window allows full large document ingestion via API</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Improved reasoning consistency on multi-step complex tasks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New default for Plus subscribers with no additional setup required</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API pricing doubled compared to prior models ($5/$30 per million tokens)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GPT-5.5 Pro restricted to Pro/Business/Enterprise tier subscribers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Too recent for independent benchmarks to be meaningful</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1M token context window (API), GPT-5.5 Pro reasoning tier, improved agentic handling</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chatgpt.com</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03</a:t>
            </a:r>
            <a:endParaRPr lang="en-US" sz="13000" dirty="0"/>
          </a:p>
        </p:txBody>
      </p:sp>
      <p:sp>
        <p:nvSpPr>
          <p:cNvPr id="3" name="Shape 1"/>
          <p:cNvSpPr/>
          <p:nvPr/>
        </p:nvSpPr>
        <p:spPr>
          <a:xfrm>
            <a:off x="594360" y="1508760"/>
            <a:ext cx="457200" cy="64008"/>
          </a:xfrm>
          <a:prstGeom prst="rect">
            <a:avLst/>
          </a:prstGeom>
          <a:solidFill>
            <a:srgbClr val="EC4899"/>
          </a:solidFill>
          <a:ln w="12700">
            <a:solidFill>
              <a:srgbClr val="EC4899"/>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Image &amp; Video Generation</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AI tools for visual content — from mood boards to campaign assets to motion</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EC4899"/>
                </a:solidFill>
                <a:latin typeface="Calibri" pitchFamily="34" charset="0"/>
                <a:ea typeface="Calibri" pitchFamily="34" charset="-122"/>
                <a:cs typeface="Calibri" pitchFamily="34" charset="-120"/>
              </a:rPr>
              <a:t>12 tools in this section</a:t>
            </a:r>
            <a:endParaRPr lang="en-US" sz="1100" dirty="0"/>
          </a:p>
        </p:txBody>
      </p:sp>
      <p:sp>
        <p:nvSpPr>
          <p:cNvPr id="7" name="Shape 5"/>
          <p:cNvSpPr/>
          <p:nvPr/>
        </p:nvSpPr>
        <p:spPr>
          <a:xfrm>
            <a:off x="0" y="4960620"/>
            <a:ext cx="9144000" cy="182880"/>
          </a:xfrm>
          <a:prstGeom prst="rect">
            <a:avLst/>
          </a:prstGeom>
          <a:solidFill>
            <a:srgbClr val="EC4899"/>
          </a:solidFill>
          <a:ln w="12700">
            <a:solidFill>
              <a:srgbClr val="EC4899"/>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Midjourney</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Midjourney</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Basic $10/mo / Standard $30/mo / Pro $60/mo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Still the standard for aesthetically distinctive image generation</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Midjourney is an AI image generation platform known for producing visually coherent, aesthetically distinctive imagery. Its model has the most developed sense of visual style of any mainstream image generator, and it remains the go-to for mood boarding, campaign concepting, and art direction reference.</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Creative directors and art directors concepting visual systems, mood boarding, and exploring visual directions before production.</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for mood boarding and visual direction exploration before committing to a production approach. The --sref (style reference) flag lets you lock a visual direction across multiple prompts. Combine with --iref for more controlled outputs guided by reference images.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Best aesthetic output quality of any mainstream image generator</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stylistic consistency within a project using style references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Rapid mood board generation from descriptive prompts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Web interface now available alongside Discord</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Discord-first experience still creates friction for some workflows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precise control over specific compositional elements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Text rendering in images still unreliable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High-volume use requires a paid subscription</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Style reference (--sref), image reference (--iref), character reference, V7 model</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midjourney.com</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Flux</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Black Forest Labs</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(self-hosted) / API usage-based via third parties</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The open-weight model reshaping how power users generate images</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Flux is a family of image generation models from Black Forest Labs, available open-weight for fine-tuning and deployment, and via API through platforms like Replicate and fal. It delivers strong photorealism with a permissive license that makes it attractive for production pipelines.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Technical producers and developers who want to fine-tune a model on brand assets or run custom inference at scale.</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Access via Replicate or fal for API-level control without managing infrastructure. For brand-specific fine-tuning, Flux Dev is the standard starting point. LoRA training on brand visual assets can produce remarkably consistent character and style outputs.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Open-weight means it can be fine-tuned on proprietary brand visual assets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Photorealistic quality comparable to leading closed models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Accessible via API for integration into custom production tools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community of extensions and LoRA fine-tunes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technical setup for fine-tuning — not accessible to non-technical users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 polished consumer interface comparable to Midjourney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Support depends on community rather than a commercial vendor</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Infrastructure management adds overhead for self-hosted deployments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Open-weight access, fine-tuning capability, Flux Pro and Flux Dev, API via Replicate/fal</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blackforestlabs.ai</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DALL-E</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OpenAI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Included with ChatGPT Plus / API usage-based</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The image model that lives inside ChatGPT</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DALL-E 3 is OpenAI's image generation model embedded directly in ChatGPT, accessible without a separate interface. It handles straightforward image requests well, integrates naturally with conversational prompting, and is the fallback for ChatGPT subscribers before GPT Image 2 is applied.</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Teams already in ChatGPT who need quick visual references or simple illustration without switching to a dedicated image tool.</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within ChatGPT when you need a quick visual and the aesthetic bar is reference-level rather than production-level. Describe what you need in plain language. For anything requiring higher quality, switch to Midjourney or GPT Image 2.</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 additional tool required if you're already in ChatGPT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Understands long, conversational prompts naturally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Good for fast visual reference generation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Prompt revision is simple within the existing chat interface</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 quality and aesthetic ceiling lower than Midjourney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Being superseded by GPT Image 2 in newer ChatGPT tiers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Text rendering in images has been inconsistent historically</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ChatGPT integration, conversational prompting, no separate tool required</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Accessed via chat.openai.com</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GPT Image 2</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OpenAI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ChatGPT Plus+ (consumer). API: ~$0.165/image</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The first image model that reasons before it renders — and finally gets text right</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GPT Image 2 is OpenAI's April 2026 image model built on the O-series reasoning layer. It plans compositions before generating them — which solves two persistent problems: readable text inside images, and coherent multi-step editing without visual drift.</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Creative and production teams building display ad assets, paid social creative, or any composition where legible copy must live inside the image.</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specifically for work where legible in-image text is required. Describe the full composition including copy placement, not just the visual subject. Use multi-turn editing to refine elements without starting over from a blank prompt.</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Near-perfect text rendering in images, across multiple languages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Thinking Mode plans compositions before generating — reduces failed iterations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Multi-turn editing maintains context across revisions without drift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for advertising compositions with copy and visual in the same frame</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Reasoning layer adds generation time compared to direct models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API access opened May 2026 — still early in maturity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Photorealism ceiling below Midjourney for hero photography without text</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O-series Thinking Mode, near-perfect text accuracy, multi-turn context, multilingual typography</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chatgpt.com / openai.com (API)</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Runway</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Runway</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Standard $15/mo / Pro $35/mo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Professional-grade AI video generation and editing</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Runway is a video generation and editing platform built for creative professionals. It offers text-to-video, image-to-video, and video-to-video capabilities alongside a growing suite of editing tools. It's one of the most established players in AI video with the most refined interface for iterative creative work.</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Production teams creating campaign assets, motion designers exploring concepts, anyone going from static idea to moving image quickly.</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Start with image-to-video rather than text-to-video for more control over output. Use high-quality reference images to anchor the style before generating. Treat it as a concepting and pre-visualization tool rather than expecting final production quality.</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Most mature and reliable AI video platform available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editing tools beyond just generation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Camera control presets for deliberate cinematography decisions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Consistent quality across outputs within a session</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Paid plans required for meaningful use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Generation speed can be slow on complex requests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 length limited per generation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Quality gap still exists between AI video and traditional production</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Gen-3 Alpha model, multi-motion brush, camera controls, video-to-video style transfer</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runwayml.com</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Sora</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OpenAI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Included with ChatGPT Plus and above (monthly credits)</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High-quality video from OpenAI, useful for pre-visualization</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Sora is OpenAI's text-to-video model generating up to 20 seconds of high-definition video from text prompts or images. It produces some of the most photorealistic AI video output available, with strong handling of physics, lighting, and complex scenes.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Creative teams exploring high-quality video concepting and visualization for pitching production concepts before committing to full shoots.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for pitch visualization where photorealism matters more than control. Combine text prompts with reference images to guide visual style. Best for showing clients what a live-action concept could look like before committing to production budget.</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Among the most photorealistic AI video output currently available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handling of complex scenes, physics, and lighting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Integrated with ChatGPT for conversational generation and iteration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Good for short-form pre-visualization and client concept presentations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Limited to ChatGPT Plus subscribers with monthly credit caps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Generation can be slow and credits are consumed quickly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precise control over specific shot details than Runway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Character consistency across multiple shots still inconsistent</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Up to 20-second HD video, storyboard mode, image animation, remix</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Accessed via chat.openai.com</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Kling</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Kuaishou</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Professional plans from ~$8/mo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The Chinese video model giving Western tools serious competition</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Kling is Kuaishou's AI video generation platform, reaching version 3.0 in 2025 and consistently matching or outperforming Runway on quality benchmarks. It generates up to 2-minute videos with strong motion quality, and its Motion Brush gives precise control over elements within a scene.</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Production teams looking for competitive video quality at a lower price point. Useful for longer-form AI video exploration where duration matters.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image-to-video with high-quality reference images for best results. Motion Brush specifies which parts of the image should move, giving far more control than text-only prompting. Compare against Runway on a specific brief before committing to either.</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motion quality competitive with Runway Gen-3</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Longer output duration than most competitors — up to 2 minutes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Motion Brush for per-element movement control within a scene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Accessible pricing for volume use</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Chinese product with different privacy posture than Western alternatives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Interface and documentation less polished</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Character consistency can break over longer sequences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API access less mature than Runway</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Kling 3.0 model, Motion Brush, up to 2-minute generation, strong motion physics</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klingai.com</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Seedance</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ByteDance</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Usage-based credits</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ByteDance's video platform, with strong cinematic output</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Seedance is ByteDance's AI video generation platform, released in 2025 as part of their broader AI product push. It produces high-quality video with notable cinematographic coherence, and its 2.0 model has shown strong results in scene complexity and motion fluidity.</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Creative teams exploring cinematic-quality AI video for campaign concepting and pre-visualization.</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Approach as a high-quality alternative to Runway and Kling for specific project needs. Best for exploratory concepting where cinematic framing is important and you're not yet committed to a production budget. Run comparisons across all three before committing.</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cinematic output quality with natural motion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Good handling of complex multi-element scenes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ByteDance resources behind continued model development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Competitive with Runway and Kling on a per-output basis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established in Western agency workflows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Interface and support less mature than Runway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Privacy considerations as a ByteDance product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Consistency across long sequences still developing</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Seedance 2.0 model, high-resolution output, cinematic motion quality</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seedance.ai</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Luma</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Luma 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Plus $29.99/mo / Pro $99.99/mo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Fast, accessible video generation with solid photorealistic output</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Luma AI's Dream Machine is a text-to-video and image-to-video platform known for generating smooth, photorealistic video quickly. It's one of the more accessible video generation tools in terms of interface simplicity and generation speed, making it a strong entry point for teams new to AI video.</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Teams wanting fast video generation for concepting without the complexity of more advanced platforms.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for rapid iteration when you need multiple video concepts quickly. Image-to-video from a strong reference image delivers better results than text-only prompting. Good for early concepting rounds where volume of options matters more than precision.</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Fast generation times compared to most competitors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Clean, simple interface — low barrier to first useful output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photorealism for natural scenes and environments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Good image-to-video performance from quality reference images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creative control than Runway or Kling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Shorter output duration limits use cases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Fewer professional features for iterative production work</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precise control over specific motion elements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Dream Machine model, Ray2, fast generation, image-to-video and text-to-video</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lumalabs.ai</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Pika</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Pika</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Standard $8/mo / Unlimited $28/mo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Creative video generation with an effects-first approach</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Pika is an AI video generation platform that distinguishes itself with Pikaeffects — a library of creative transformations including explosions, melts, and morphs. It's built for accessible, fast creative exploration rather than premium production quality.</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Social media teams and content creators who need fast, stylized video for social channels where unexpected visual moments drive engagement.</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Pikaeffects for social content where unexpected visual moments drive engagement. Works well for quick product transformation videos or stylized brand content on social. Not the choice when production quality is the priority.</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Unique Pikaeffects library for creative visual transformations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Fast generation suitable for high-volume social content needs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Simple interface suitable for non-technical users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Good for short-form social video where polish is secondary</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 quality ceiling below Runway or Kling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suitable for premium campaign production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Effects can lean toward novelty over practical utility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Limited control over cinematography and scene composition</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Pikaeffects transformation library, Pika 2.2, fast generation, image-to-video</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pika.art</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Nano Banana</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Google (via Gemini)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Pro / Ultra via Google AI subscriptions</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Google's image generation, built into the tools you're already using</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Nano Banana is Google's native image generation capability embedded across Gemini, Google Search, Google Ads, and AI Studio. Available at multiple quality tiers, it's most relevant to agencies for its Google Ads integration — enabling campaign asset generation without leaving the ad platform.</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Paid media teams managing Google Ads campaigns who want to generate and test visual assets within the existing ad workflow.</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For Google Ads teams, explore native creative generation within Performance Max campaigns. For general image work, access through the Gemini app and specify quality tier based on resolution requirements.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Native Google Ads integration removes tool-switching friction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Up to 4K resolution on higher tiers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Subject consistency across edit iterations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Multilingual text rendering within images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Aesthetic output more utilitarian than Midjourney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Limited value outside the Google ecosystem</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Quality varies significantly by access tier</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distinctive visual style than specialized image generators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Google Ads integration, 4K resolution, subject consistency, multilingual text support</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gemini.google.com / Google Ads</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ComfyUI</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Open Source</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(open source) / Hardware and model costs apply</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Maximum control over image generation, for teams with technical resources</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ComfyUI is an open-source, node-based interface for running image and video generation models locally. It allows complex multi-step pipelines, fine-grained control over every aspect of generation, and the ability to chain models together in ways no hosted platform permits.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Technical producers or developers building repeatable, custom generation pipelines. Studios building proprietary AI production tooling.</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Only approach if you have in-house technical resources. Most useful for building repeatable production pipelines that hosted tools can't replicate. Community workflows (reusable node graphs) are the fastest onboarding path. Start there before building from scratch.</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Full control over generation pipeline — every parameter is accessible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Run any open-source model locally with no per-generation cost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Workflow-as-graph makes complex pipelines repeatable and shareable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Supports Flux, SDXL, video models, and more</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Steep learning curve — not suitable for non-technical users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capable GPU hardware for local execution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Setup and maintenance are ongoing technical responsibilities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Documentation is community-driven and inconsistent</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Node-based pipeline, local model execution, Flux and SDXL support, custom workflow export</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github.com/comfyanonymous/ComfyUI</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04</a:t>
            </a:r>
            <a:endParaRPr lang="en-US" sz="13000" dirty="0"/>
          </a:p>
        </p:txBody>
      </p:sp>
      <p:sp>
        <p:nvSpPr>
          <p:cNvPr id="3" name="Shape 1"/>
          <p:cNvSpPr/>
          <p:nvPr/>
        </p:nvSpPr>
        <p:spPr>
          <a:xfrm>
            <a:off x="594360" y="1508760"/>
            <a:ext cx="457200" cy="64008"/>
          </a:xfrm>
          <a:prstGeom prst="rect">
            <a:avLst/>
          </a:prstGeom>
          <a:solidFill>
            <a:srgbClr val="8B5CF6"/>
          </a:solidFill>
          <a:ln w="12700">
            <a:solidFill>
              <a:srgbClr val="8B5CF6"/>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All-in-One Generative AI</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Platforms combining multiple generative capabilities under one roof</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8B5CF6"/>
                </a:solidFill>
                <a:latin typeface="Calibri" pitchFamily="34" charset="0"/>
                <a:ea typeface="Calibri" pitchFamily="34" charset="-122"/>
                <a:cs typeface="Calibri" pitchFamily="34" charset="-120"/>
              </a:rPr>
              <a:t>3 tools in this section</a:t>
            </a:r>
            <a:endParaRPr lang="en-US" sz="1100" dirty="0"/>
          </a:p>
        </p:txBody>
      </p:sp>
      <p:sp>
        <p:nvSpPr>
          <p:cNvPr id="7" name="Shape 5"/>
          <p:cNvSpPr/>
          <p:nvPr/>
        </p:nvSpPr>
        <p:spPr>
          <a:xfrm>
            <a:off x="0" y="4960620"/>
            <a:ext cx="9144000" cy="182880"/>
          </a:xfrm>
          <a:prstGeom prst="rect">
            <a:avLst/>
          </a:prstGeom>
          <a:solidFill>
            <a:srgbClr val="8B5CF6"/>
          </a:solidFill>
          <a:ln w="12700">
            <a:solidFill>
              <a:srgbClr val="8B5CF6"/>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8B5CF6"/>
          </a:solidFill>
          <a:ln w="12700">
            <a:solidFill>
              <a:srgbClr val="8B5CF6"/>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Higgsfield</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8B5CF6"/>
                </a:solidFill>
                <a:latin typeface="Calibri" pitchFamily="34" charset="0"/>
                <a:ea typeface="Calibri" pitchFamily="34" charset="-122"/>
                <a:cs typeface="Calibri" pitchFamily="34" charset="-120"/>
              </a:rPr>
              <a:t>ALL-IN-ONE GENERATIVE AI</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Higgsfield</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Paid plans</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8B5CF6"/>
                </a:solidFill>
                <a:latin typeface="Calibri" pitchFamily="34" charset="0"/>
                <a:ea typeface="Calibri" pitchFamily="34" charset="-122"/>
                <a:cs typeface="Calibri" pitchFamily="34" charset="-120"/>
              </a:rPr>
              <a:t>Character-consistent AI video with built-in creative control</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8B5CF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Higgsfield is an AI video generation platform built around character consistency, social-native formats, and creative control in a single interface. Unlike general video generators, it's designed for content that needs a consistent protagonist across multiple scenes.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8B5CF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Social media teams and content creators who need character-consistent video content at scale. Brand teams building recurring visual identity around a character.</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8B5CF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Define a character using reference images before starting any video generation. Use One Canvas to build multi-shot sequences maintaining character consistency. Most effective when the goal is recurring branded character content rather than one-off cinematic pieces.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character consistency across shots — a genuine differentiator</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Built for social-native formats and aspect ratios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One Canvas workspace combines generation and editing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Faster iteration than traditional video workflows for social content</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More specialized than general video platforms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suited for cinematic or production-quality output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Character library limited to what the platform supports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Newer platform with smaller community than Runway or Kling</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Character consistency engine, One Canvas workspace, social-native formats, image-to-video</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higgsfield.ai</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8B5CF6"/>
          </a:solidFill>
          <a:ln w="12700">
            <a:solidFill>
              <a:srgbClr val="8B5CF6"/>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Freepik</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8B5CF6"/>
                </a:solidFill>
                <a:latin typeface="Calibri" pitchFamily="34" charset="0"/>
                <a:ea typeface="Calibri" pitchFamily="34" charset="-122"/>
                <a:cs typeface="Calibri" pitchFamily="34" charset="-120"/>
              </a:rPr>
              <a:t>ALL-IN-ONE GENERATIVE AI</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Freepik</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Essential $9.99/mo / Premium $19.99/mo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8B5CF6"/>
                </a:solidFill>
                <a:latin typeface="Calibri" pitchFamily="34" charset="0"/>
                <a:ea typeface="Calibri" pitchFamily="34" charset="-122"/>
                <a:cs typeface="Calibri" pitchFamily="34" charset="-120"/>
              </a:rPr>
              <a:t>Stock assets and AI generation in one place</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8B5CF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Freepik is a creative asset platform integrating AI generation tools alongside its traditional stock library. It combines millions of images, vectors, and templates with AI image generation, video generation, and editing tools — positioning itself as an all-in-one resource for teams working with both stock and generated content.</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8B5CF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Design and production teams that regularly use stock assets and want to blend traditional stock with AI-generated content under a single subscription.</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8B5CF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Best as a consolidation tool if your team already uses Freepik for stock. Use Pikaso for quick image generation during mood boarding, and the stock library for client-ready assets when AI generation falls short of the quality bar.</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Combines stock library and AI generation under one subscription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image generation quality competitive with midrange options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Pikaso and other tools cover multiple generation types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Good value if you're already a Freepik subscriber</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Generation quality ceiling below dedicated tools like Midjourney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Interface prioritizes breadth over depth on individual tools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tools are add-ons to a stock platform, not purpose-built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distinctive output for teams that need premium creative quality</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Pikaso image generation, AI video tools, stock library integration, template editing</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freepik.com</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8B5CF6"/>
          </a:solidFill>
          <a:ln w="12700">
            <a:solidFill>
              <a:srgbClr val="8B5CF6"/>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Artlist</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8B5CF6"/>
                </a:solidFill>
                <a:latin typeface="Calibri" pitchFamily="34" charset="0"/>
                <a:ea typeface="Calibri" pitchFamily="34" charset="-122"/>
                <a:cs typeface="Calibri" pitchFamily="34" charset="-120"/>
              </a:rPr>
              <a:t>ALL-IN-ONE GENERATIVE AI</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Artlist</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Pro $199/year / Teams plans available</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8B5CF6"/>
                </a:solidFill>
                <a:latin typeface="Calibri" pitchFamily="34" charset="0"/>
                <a:ea typeface="Calibri" pitchFamily="34" charset="-122"/>
                <a:cs typeface="Calibri" pitchFamily="34" charset="-120"/>
              </a:rPr>
              <a:t>Music and sound licensing for video, with AI tools built in</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8B5CF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Artlist is a royalty-free music and sound effects licensing platform for video creators, with an expanding suite of AI tools for music generation, sound design, and footage. Its unlimited licensing model makes it practical for agencies producing ongoing video content.</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8B5CF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Video production teams and editors who need cleared music and sound for client work. Teams exploring AI music generation for branded content.</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8B5CF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as the default music licensing solution for any video production requiring cleared rights. Explore AI music tools when clients need custom-length or brand-specific tracks that can't be found in the curated library.</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Unlimited licensing removes per-project clearance overhead</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curated music library with consistent editorial quality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music generation for custom-length branded tracks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Growing video footage library alongside music</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music generation narrower in genre range than dedicated tools like Suno</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Primarily a licensing platform that added AI — not AI-native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Footage library smaller than Getty or Shutterstock</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Best value only if you produce ongoing video content at volume</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Unlimited licensing model, curated music library, AI music generation, video footage</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artlist.io</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05</a:t>
            </a:r>
            <a:endParaRPr lang="en-US" sz="13000" dirty="0"/>
          </a:p>
        </p:txBody>
      </p:sp>
      <p:sp>
        <p:nvSpPr>
          <p:cNvPr id="3" name="Shape 1"/>
          <p:cNvSpPr/>
          <p:nvPr/>
        </p:nvSpPr>
        <p:spPr>
          <a:xfrm>
            <a:off x="594360" y="1508760"/>
            <a:ext cx="457200" cy="64008"/>
          </a:xfrm>
          <a:prstGeom prst="rect">
            <a:avLst/>
          </a:prstGeom>
          <a:solidFill>
            <a:srgbClr val="0891B2"/>
          </a:solidFill>
          <a:ln w="12700">
            <a:solidFill>
              <a:srgbClr val="0891B2"/>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3D &amp; Spatial Generation</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AI tools for 3D asset creation, texturing, and spatial environment generation</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0891B2"/>
                </a:solidFill>
                <a:latin typeface="Calibri" pitchFamily="34" charset="0"/>
                <a:ea typeface="Calibri" pitchFamily="34" charset="-122"/>
                <a:cs typeface="Calibri" pitchFamily="34" charset="-120"/>
              </a:rPr>
              <a:t>4 tools in this section</a:t>
            </a:r>
            <a:endParaRPr lang="en-US" sz="1100" dirty="0"/>
          </a:p>
        </p:txBody>
      </p:sp>
      <p:sp>
        <p:nvSpPr>
          <p:cNvPr id="7" name="Shape 5"/>
          <p:cNvSpPr/>
          <p:nvPr/>
        </p:nvSpPr>
        <p:spPr>
          <a:xfrm>
            <a:off x="0" y="4960620"/>
            <a:ext cx="9144000" cy="182880"/>
          </a:xfrm>
          <a:prstGeom prst="rect">
            <a:avLst/>
          </a:prstGeom>
          <a:solidFill>
            <a:srgbClr val="0891B2"/>
          </a:solidFill>
          <a:ln w="12700">
            <a:solidFill>
              <a:srgbClr val="0891B2"/>
            </a:solidFill>
            <a:prstDash val="solid"/>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891B2"/>
          </a:solidFill>
          <a:ln w="12700">
            <a:solidFill>
              <a:srgbClr val="0891B2"/>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Fal + PATINA</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0891B2"/>
                </a:solidFill>
                <a:latin typeface="Calibri" pitchFamily="34" charset="0"/>
                <a:ea typeface="Calibri" pitchFamily="34" charset="-122"/>
                <a:cs typeface="Calibri" pitchFamily="34" charset="-120"/>
              </a:rPr>
              <a:t>3D &amp; SPATIAL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Fal</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Usage-based (per inference)</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0891B2"/>
                </a:solidFill>
                <a:latin typeface="Calibri" pitchFamily="34" charset="0"/>
                <a:ea typeface="Calibri" pitchFamily="34" charset="-122"/>
                <a:cs typeface="Calibri" pitchFamily="34" charset="-120"/>
              </a:rPr>
              <a:t>AI inference platform with a standout model for production-ready 3D materials</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Fal is an AI model inference platform running image, video, and 3D generation at speed. PATINA is their specialized model for generating physically-based rendering (PBR) material maps from text or reference images — producing full material data sets for 3D objects rather than flat, baked textures.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3D production teams, XR developers, and anyone building immersive experiences that need photorealistic surface materials without manual texturing work.</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Provide a reference image or text description of the surface material needed. Import the full PBR map set directly into your 3D software or game engine. Use the 8K upscaling for assets requiring high-resolution texture detail.</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PATINA generates full PBR sets (albedo, normal, roughness, metalness, displacement)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Seamless tiling and upscaling to 8K resolution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Outputs are usable directly in Unreal Engine, Blender, and other renderers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Fast inference speed for a 3D production pipeline</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3D workflow knowledge to integrate outputs properly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PATINA is specialized — not a general-purpose creative tool</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 quality depends on input reference quality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accessible to non-technical creative teams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PATINA model, full PBR map generation, seamless tiling, up to 8K output, fast inference</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fal.ai</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891B2"/>
          </a:solidFill>
          <a:ln w="12700">
            <a:solidFill>
              <a:srgbClr val="0891B2"/>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Tripo 3D</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0891B2"/>
                </a:solidFill>
                <a:latin typeface="Calibri" pitchFamily="34" charset="0"/>
                <a:ea typeface="Calibri" pitchFamily="34" charset="-122"/>
                <a:cs typeface="Calibri" pitchFamily="34" charset="-120"/>
              </a:rPr>
              <a:t>3D &amp; SPATIAL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Tripo</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Pro plans</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0891B2"/>
                </a:solidFill>
                <a:latin typeface="Calibri" pitchFamily="34" charset="0"/>
                <a:ea typeface="Calibri" pitchFamily="34" charset="-122"/>
                <a:cs typeface="Calibri" pitchFamily="34" charset="-120"/>
              </a:rPr>
              <a:t>Text and image to 3D model, faster than traditional asset creation</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Tripo is an AI platform for generating 3D models from text descriptions or reference images. It produces meshes suitable for game engines, rendering pipelines, and XR environments — compressing what was traditionally a multi-day asset creation process into minutes.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3D artists and XR developers needing to rapidly prototype assets or generate base meshes for further refinement. Creative teams exploring 3D visualization without a full modeling team.</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for rapid prototyping and concept visualization rather than final production assets. Provide detailed reference images from multiple angles for better mesh quality. Plan for a cleanup pass in your 3D software before any final render.</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Fast text-to-3D and image-to-3D generation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Outputs usable meshes rather than just rendered previews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Good for rapid prototyping and pre-visualization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Supports common 3D file formats for pipeline compatibility</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Generated meshes often require cleanup before production use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Geometric detail can be inconsistent on complex objects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a replacement for handcrafted assets in hero-quality production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Limited control over mesh topology</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Text-to-3D, image-to-3D, exportable meshes, fast generation</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tripo3d.ai</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891B2"/>
          </a:solidFill>
          <a:ln w="12700">
            <a:solidFill>
              <a:srgbClr val="0891B2"/>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World Labs</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0891B2"/>
                </a:solidFill>
                <a:latin typeface="Calibri" pitchFamily="34" charset="0"/>
                <a:ea typeface="Calibri" pitchFamily="34" charset="-122"/>
                <a:cs typeface="Calibri" pitchFamily="34" charset="-120"/>
              </a:rPr>
              <a:t>3D &amp; SPATIAL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World Labs</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Early access / pricing TBD</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0891B2"/>
                </a:solidFill>
                <a:latin typeface="Calibri" pitchFamily="34" charset="0"/>
                <a:ea typeface="Calibri" pitchFamily="34" charset="-122"/>
                <a:cs typeface="Calibri" pitchFamily="34" charset="-120"/>
              </a:rPr>
              <a:t>Spatial intelligence from one of AI's foundational researchers</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World Labs, founded by Stanford professor Li Fei-Fei, is building large world models that understand and generate 3D spatial environments. Their early work focuses on generating interactive 3D scenes from images — a step toward AI that understands physical space rather than just pixels.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Innovation and strategy teams tracking where AI is heading for immersive experiences and spatial computing. Not yet a production tool for most agency workflows.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Watch closely if your agency works in XR, retail spatial experiences, or any immersive environment design. Follow product releases to understand when this becomes actionable for client work.</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Pioneer-level research from one of the most credible AI researchers in the field</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Addresses a genuine capability gap — spatial understanding is AI's next frontier</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Directly relevant to XR, retail spatial, and immersive environment design</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Still primarily in research and early access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a ready-to-use production tool</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Limited public product availability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context on spatial computing to apply meaningfully</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3D world generation from images, spatial intelligence, interactive scene generation</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worldlabs.ai</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891B2"/>
          </a:solidFill>
          <a:ln w="12700">
            <a:solidFill>
              <a:srgbClr val="0891B2"/>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Google Genie</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0891B2"/>
                </a:solidFill>
                <a:latin typeface="Calibri" pitchFamily="34" charset="0"/>
                <a:ea typeface="Calibri" pitchFamily="34" charset="-122"/>
                <a:cs typeface="Calibri" pitchFamily="34" charset="-120"/>
              </a:rPr>
              <a:t>3D &amp; SPATIAL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Google DeepMind</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Research only — not commercially available</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0891B2"/>
                </a:solidFill>
                <a:latin typeface="Calibri" pitchFamily="34" charset="0"/>
                <a:ea typeface="Calibri" pitchFamily="34" charset="-122"/>
                <a:cs typeface="Calibri" pitchFamily="34" charset="-120"/>
              </a:rPr>
              <a:t>Interactive environment generation — still in research territory</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Google Genie is a research model from DeepMind capable of generating interactive 2D game-like environments from text or image descriptions. Each generated world can be explored and interacted with — going beyond static image or video generation into genuine interactive spatial generation.</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Innovation teams and technology strategists tracking what's coming in AI-powered interactive experiences. Early signal for branded interactive environments.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Treat as a signal, not a tool. Monitor DeepMind releases for when Genie-based capabilities enter Google's product stack. The most actionable insight is understanding that interactive environment generation from prompts is coming.</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Demonstrates interactive environment generation no commercial tool currently does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Relevant to gaming, XR, and experiential marketing possibilities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research pedigree from Google DeepMind</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publicly available as a production tool</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Research-stage technology with unclear commercial timeline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Currently limited to 2D environments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Narrow application surface for most agency teams right now</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Interactive world generation, text-to-environment, image-to-environment</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deepmind.google</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06</a:t>
            </a:r>
            <a:endParaRPr lang="en-US" sz="13000" dirty="0"/>
          </a:p>
        </p:txBody>
      </p:sp>
      <p:sp>
        <p:nvSpPr>
          <p:cNvPr id="3" name="Shape 1"/>
          <p:cNvSpPr/>
          <p:nvPr/>
        </p:nvSpPr>
        <p:spPr>
          <a:xfrm>
            <a:off x="594360" y="1508760"/>
            <a:ext cx="457200" cy="64008"/>
          </a:xfrm>
          <a:prstGeom prst="rect">
            <a:avLst/>
          </a:prstGeom>
          <a:solidFill>
            <a:srgbClr val="F59E0B"/>
          </a:solidFill>
          <a:ln w="12700">
            <a:solidFill>
              <a:srgbClr val="F59E0B"/>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Audio &amp; Voice</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AI tools for voice synthesis, music generation, and audio production</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F59E0B"/>
                </a:solidFill>
                <a:latin typeface="Calibri" pitchFamily="34" charset="0"/>
                <a:ea typeface="Calibri" pitchFamily="34" charset="-122"/>
                <a:cs typeface="Calibri" pitchFamily="34" charset="-120"/>
              </a:rPr>
              <a:t>3 tools in this section</a:t>
            </a:r>
            <a:endParaRPr lang="en-US" sz="1100" dirty="0"/>
          </a:p>
        </p:txBody>
      </p:sp>
      <p:sp>
        <p:nvSpPr>
          <p:cNvPr id="7" name="Shape 5"/>
          <p:cNvSpPr/>
          <p:nvPr/>
        </p:nvSpPr>
        <p:spPr>
          <a:xfrm>
            <a:off x="0" y="4960620"/>
            <a:ext cx="9144000" cy="182880"/>
          </a:xfrm>
          <a:prstGeom prst="rect">
            <a:avLst/>
          </a:prstGeom>
          <a:solidFill>
            <a:srgbClr val="F59E0B"/>
          </a:solidFill>
          <a:ln w="12700">
            <a:solidFill>
              <a:srgbClr val="F59E0B"/>
            </a:solidFill>
            <a:prstDash val="solid"/>
          </a:ln>
        </p:spPr>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F59E0B"/>
          </a:solidFill>
          <a:ln w="12700">
            <a:solidFill>
              <a:srgbClr val="F59E0B"/>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ElevenLabs</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F59E0B"/>
                </a:solidFill>
                <a:latin typeface="Calibri" pitchFamily="34" charset="0"/>
                <a:ea typeface="Calibri" pitchFamily="34" charset="-122"/>
                <a:cs typeface="Calibri" pitchFamily="34" charset="-120"/>
              </a:rPr>
              <a:t>AUDIO &amp; VOICE</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ElevenLabs</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Starter $5/mo / Creator $22/mo / Pro $99/mo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The standard for AI voice cloning and text-to-speech production</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F59E0B"/>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ElevenLabs is the leading platform for AI voice synthesis, voice cloning, and audio production. It creates natural-sounding voices from text, can clone a voice from a short audio sample, and generates speech in 29+ languages. It's the most used AI voice tool in professional content production.</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F59E0B"/>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Video production teams and marketing teams needing voice-over at scale without studio booking. Localization teams needing multilingual audio assets.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F59E0B"/>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Build a custom voice profile for brand consistency across all audio content. Use the Dubbing Studio for localization of existing video. For explainer and internal content, AI voice can replace studio bookings for most non-hero work.</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Best-in-class voice naturalness for AI-generated speech</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Voice cloning from a short audio sample (with proper consent)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29+ language support with native accent quality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Dubbing Studio for localization of existing video content</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Ethical and legal questions around voice cloning require clear consent policies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Quality can degrade on unusual proper nouns or highly technical terms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Commercial licensing adds cost for high-volume production use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all generated voices suit all content types or brand personalities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Voice cloning, 29+ languages, Dubbing Studio, sound effects, Projects for long-form audio</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elevenlabs.io</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F59E0B"/>
          </a:solidFill>
          <a:ln w="12700">
            <a:solidFill>
              <a:srgbClr val="F59E0B"/>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Suno</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F59E0B"/>
                </a:solidFill>
                <a:latin typeface="Calibri" pitchFamily="34" charset="0"/>
                <a:ea typeface="Calibri" pitchFamily="34" charset="-122"/>
                <a:cs typeface="Calibri" pitchFamily="34" charset="-120"/>
              </a:rPr>
              <a:t>AUDIO &amp; VOICE</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Suno</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Pro $8/mo / Premier $24/mo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Describe a song and get one — from intro to outro</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F59E0B"/>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Suno is an AI music generation platform that produces complete songs including vocals, instrumentation, and production from text prompts. It covers a wide range of genres, generates full tracks of several minutes, and supports custom lyric input. It's the most widely used AI music tool.</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F59E0B"/>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Content teams needing custom music for branded video, social content, or presentations without the cost of a composer or the clearance risk of licensed tracks.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F59E0B"/>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Provide detailed style descriptors beyond just genre: tempo, mood, instrumentation, era reference, and vocal style. Use the custom lyrics feature for branded content that needs specific messaging. Generate multiple options and select rather than trying to perfect one.</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Full song generation with vocals and production in under a minute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Wide genre range from description alone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Custom lyrics support for branded content that needs to say something specific</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 licensing concerns on generated tracks for commercial use</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 can sound generic without detailed, specific style prompting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Vocal quality is recognizably AI to trained ears in professional audio</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Limited control over specific production elements within a track</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suitable for work requiring a polished, distinctive musical identity</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Full song with vocals, custom lyrics, wide genre range, extend track feature</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suno.com</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F59E0B"/>
          </a:solidFill>
          <a:ln w="12700">
            <a:solidFill>
              <a:srgbClr val="F59E0B"/>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Udio</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F59E0B"/>
                </a:solidFill>
                <a:latin typeface="Calibri" pitchFamily="34" charset="0"/>
                <a:ea typeface="Calibri" pitchFamily="34" charset="-122"/>
                <a:cs typeface="Calibri" pitchFamily="34" charset="-120"/>
              </a:rPr>
              <a:t>AUDIO &amp; VOICE</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Udio</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Standard $6/mo / Pro $14/mo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Music generation with more control over production detail</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F59E0B"/>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Udio is an AI music generation platform competing with Suno, distinguishing itself with more granular control over production elements and stronger quality on certain genres, particularly hip-hop, R&amp;B, and experimental music styles.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F59E0B"/>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Teams where Suno's output isn't hitting the specific sonic quality needed, or where production detail control matters more than speed.</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F59E0B"/>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Test on the same brief across both Suno and Udio and compare outputs. Udio often performs better when you need specific instrumental arrangements or when working in genres it handles particularly well. Budget for comparison testing before committing.</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Stronger output quality on certain genres than Suno</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More control over specific production elements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Handles complex musical styles with more accuracy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Growing feature set with active development</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Smaller user base and community than Suno</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Interface less polished than Suno</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Similar vocal realism limitations as other AI music tools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Use case overlap with Suno means you likely only need one</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Genre-specific quality, production detail control, mix-and-match track segments</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udio.com</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07</a:t>
            </a:r>
            <a:endParaRPr lang="en-US" sz="13000" dirty="0"/>
          </a:p>
        </p:txBody>
      </p:sp>
      <p:sp>
        <p:nvSpPr>
          <p:cNvPr id="3" name="Shape 1"/>
          <p:cNvSpPr/>
          <p:nvPr/>
        </p:nvSpPr>
        <p:spPr>
          <a:xfrm>
            <a:off x="594360" y="1508760"/>
            <a:ext cx="457200" cy="64008"/>
          </a:xfrm>
          <a:prstGeom prst="rect">
            <a:avLst/>
          </a:prstGeom>
          <a:solidFill>
            <a:srgbClr val="10B981"/>
          </a:solidFill>
          <a:ln w="12700">
            <a:solidFill>
              <a:srgbClr val="10B981"/>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Copy &amp; Content</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AI writing tools built for marketing and enterprise content operations</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10B981"/>
                </a:solidFill>
                <a:latin typeface="Calibri" pitchFamily="34" charset="0"/>
                <a:ea typeface="Calibri" pitchFamily="34" charset="-122"/>
                <a:cs typeface="Calibri" pitchFamily="34" charset="-120"/>
              </a:rPr>
              <a:t>2 tools in this section</a:t>
            </a:r>
            <a:endParaRPr lang="en-US" sz="1100" dirty="0"/>
          </a:p>
        </p:txBody>
      </p:sp>
      <p:sp>
        <p:nvSpPr>
          <p:cNvPr id="7" name="Shape 5"/>
          <p:cNvSpPr/>
          <p:nvPr/>
        </p:nvSpPr>
        <p:spPr>
          <a:xfrm>
            <a:off x="0" y="4960620"/>
            <a:ext cx="9144000" cy="182880"/>
          </a:xfrm>
          <a:prstGeom prst="rect">
            <a:avLst/>
          </a:prstGeom>
          <a:solidFill>
            <a:srgbClr val="10B981"/>
          </a:solidFill>
          <a:ln w="12700">
            <a:solidFill>
              <a:srgbClr val="10B981"/>
            </a:solidFill>
            <a:prstDash val="solid"/>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10B981"/>
          </a:solidFill>
          <a:ln w="12700">
            <a:solidFill>
              <a:srgbClr val="10B981"/>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Jasper</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10B981"/>
                </a:solidFill>
                <a:latin typeface="Calibri" pitchFamily="34" charset="0"/>
                <a:ea typeface="Calibri" pitchFamily="34" charset="-122"/>
                <a:cs typeface="Calibri" pitchFamily="34" charset="-120"/>
              </a:rPr>
              <a:t>COPY &amp; CONTENT</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Jasper</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Creator $49/mo / Pro $69/mo / Business (custom)</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10B981"/>
                </a:solidFill>
                <a:latin typeface="Calibri" pitchFamily="34" charset="0"/>
                <a:ea typeface="Calibri" pitchFamily="34" charset="-122"/>
                <a:cs typeface="Calibri" pitchFamily="34" charset="-120"/>
              </a:rPr>
              <a:t>Enterprise AI writing built around brand consistency</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10B98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Jasper is an enterprise AI writing platform designed for marketing and content teams. It centers on brand voice management — allowing organizations to train Jasper on their specific tone, guidelines, and style before generating content, reducing the off-brand output common with generic LLMs.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10B98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Larger marketing teams needing AI-assisted content generation with built-in brand controls. Content operations teams managing volume output across multiple channels.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10B98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Invest time in brand voice training before expecting consistently useful output. The platform's value is in the guardrails and structure, not raw generation quality. Use primarily for high-volume, repeatable content types where consistency matters more than creativity.</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Brand voice training reduces need for extensive prompt engineering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Integrated across multiple content formats and marketing channels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Team collaboration features suited to enterprise workflows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Content templates for common marketing use cases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Quality of underlying model is derivative of GPT — not a proprietary model</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Expensive relative to using ChatGPT directly with a well-crafted system prompt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investment in brand voice setup before useful output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Overkill for smaller teams without content operations at scale</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Brand voice training, multi-channel templates, team collaboration, Jasper Art image generation</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jasper.ai</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10B981"/>
          </a:solidFill>
          <a:ln w="12700">
            <a:solidFill>
              <a:srgbClr val="10B981"/>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Copy.ai</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10B981"/>
                </a:solidFill>
                <a:latin typeface="Calibri" pitchFamily="34" charset="0"/>
                <a:ea typeface="Calibri" pitchFamily="34" charset="-122"/>
                <a:cs typeface="Calibri" pitchFamily="34" charset="-120"/>
              </a:rPr>
              <a:t>COPY &amp; CONTENT</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Copy.ai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Starter $36/mo / Advanced $186/mo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10B981"/>
                </a:solidFill>
                <a:latin typeface="Calibri" pitchFamily="34" charset="0"/>
                <a:ea typeface="Calibri" pitchFamily="34" charset="-122"/>
                <a:cs typeface="Calibri" pitchFamily="34" charset="-120"/>
              </a:rPr>
              <a:t>GTM AI for sales and marketing content at scale</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10B98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Copy.ai has evolved from a simple copywriting tool into a Go-To-Market AI platform focused on sales and marketing content workflows — including prospecting sequences, pipeline analysis, and content operations automation. It's less a writing assistant and more an AI system for GTM execution.</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10B98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Revenue-focused marketing teams and growth-oriented agencies that need to scale outreach, sales enablement content, and top-of-funnel content operations.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10B98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Evaluate for clients or internal work involving high-volume sales or outbound content operations. Not the right tool for campaign concepting or creative copy. Strong for systematic, repeatable content that needs to scale without adding headcount.</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Workflow automation beyond one-off copy generation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GTM focus makes it relevant to full-funnel marketing operations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Integrates with CRM and sales tools for contextual content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More strategic than a generic AI writing tool for sales-oriented teams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useful for brand or creative content work</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Enterprise pricing required for full workflow feature access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Heavy sales content focus may not fit all agency models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Setup requires investment to get full workflow automation value</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GTM workflow automation, AI pipelines, sales content generation, CRM integrations</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copy.ai</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08</a:t>
            </a:r>
            <a:endParaRPr lang="en-US" sz="13000" dirty="0"/>
          </a:p>
        </p:txBody>
      </p:sp>
      <p:sp>
        <p:nvSpPr>
          <p:cNvPr id="3" name="Shape 1"/>
          <p:cNvSpPr/>
          <p:nvPr/>
        </p:nvSpPr>
        <p:spPr>
          <a:xfrm>
            <a:off x="594360" y="1508760"/>
            <a:ext cx="457200" cy="64008"/>
          </a:xfrm>
          <a:prstGeom prst="rect">
            <a:avLst/>
          </a:prstGeom>
          <a:solidFill>
            <a:srgbClr val="3B82F6"/>
          </a:solidFill>
          <a:ln w="12700">
            <a:solidFill>
              <a:srgbClr val="3B82F6"/>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Research &amp; Insights</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AI tools for synthesizing information, generating research, and uncovering insight</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3B82F6"/>
                </a:solidFill>
                <a:latin typeface="Calibri" pitchFamily="34" charset="0"/>
                <a:ea typeface="Calibri" pitchFamily="34" charset="-122"/>
                <a:cs typeface="Calibri" pitchFamily="34" charset="-120"/>
              </a:rPr>
              <a:t>4 tools in this section</a:t>
            </a:r>
            <a:endParaRPr lang="en-US" sz="1100" dirty="0"/>
          </a:p>
        </p:txBody>
      </p:sp>
      <p:sp>
        <p:nvSpPr>
          <p:cNvPr id="7" name="Shape 5"/>
          <p:cNvSpPr/>
          <p:nvPr/>
        </p:nvSpPr>
        <p:spPr>
          <a:xfrm>
            <a:off x="0" y="4960620"/>
            <a:ext cx="9144000" cy="182880"/>
          </a:xfrm>
          <a:prstGeom prst="rect">
            <a:avLst/>
          </a:prstGeom>
          <a:solidFill>
            <a:srgbClr val="3B82F6"/>
          </a:solidFill>
          <a:ln w="12700">
            <a:solidFill>
              <a:srgbClr val="3B82F6"/>
            </a:solidFill>
            <a:prstDash val="solid"/>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3B82F6"/>
          </a:solidFill>
          <a:ln w="12700">
            <a:solidFill>
              <a:srgbClr val="3B82F6"/>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NotebookLM</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3B82F6"/>
                </a:solidFill>
                <a:latin typeface="Calibri" pitchFamily="34" charset="0"/>
                <a:ea typeface="Calibri" pitchFamily="34" charset="-122"/>
                <a:cs typeface="Calibri" pitchFamily="34" charset="-120"/>
              </a:rPr>
              <a:t>RESEARCH &amp; INSIGHTS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Google</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 NotebookLM Plus included with Google AI Pro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3B82F6"/>
                </a:solidFill>
                <a:latin typeface="Calibri" pitchFamily="34" charset="0"/>
                <a:ea typeface="Calibri" pitchFamily="34" charset="-122"/>
                <a:cs typeface="Calibri" pitchFamily="34" charset="-120"/>
              </a:rPr>
              <a:t>Turn any document into a research system you can actually talk to</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NotebookLM is Google's AI research tool that lets you upload documents, PDFs, URLs, and other sources and have grounded conversations with that specific material. Every answer cites the source. Audio Overviews generates a podcast-style conversation summarizing your sources — unlike anything else available.</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Strategists and planners synthesizing large volumes of research before a pitch or brief. Anyone who needs to get smart on a category quickly using primary documents.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Upload the key documents for a new client or category before reading everything: annual reports, past campaign analyses, category studies, consumer research. Ask targeted questions. Use Audio Overviews for a fast orientation before diving into individual documents.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Answers are grounded in your uploaded documents, not general training data</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Audio Overviews convert documents into a listenable briefing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Excellent for synthesizing conflicting information across multiple sources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Free at the consumer tier — genuinely no-cost access to a powerful tool</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Limited to uploaded content — requires having the right sources first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useful for research requiring real-time information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Audio Overviews quality varies with source material complexity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Google account required for access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Source-grounded answers, Audio Overviews, document upload (PDF, URL, Docs), citation-linked responses</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notebooklm.google.com</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3B82F6"/>
          </a:solidFill>
          <a:ln w="12700">
            <a:solidFill>
              <a:srgbClr val="3B82F6"/>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Perplexity</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3B82F6"/>
                </a:solidFill>
                <a:latin typeface="Calibri" pitchFamily="34" charset="0"/>
                <a:ea typeface="Calibri" pitchFamily="34" charset="-122"/>
                <a:cs typeface="Calibri" pitchFamily="34" charset="-120"/>
              </a:rPr>
              <a:t>RESEARCH &amp; INSIGHTS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Perplexity 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 Pro $20/mo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3B82F6"/>
                </a:solidFill>
                <a:latin typeface="Calibri" pitchFamily="34" charset="0"/>
                <a:ea typeface="Calibri" pitchFamily="34" charset="-122"/>
                <a:cs typeface="Calibri" pitchFamily="34" charset="-120"/>
              </a:rPr>
              <a:t>AI search that shows its work — primary home in the Research category</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Perplexity retrieves current web information and presents it with inline citations — every claim is verifiable. Also catalogued in LLMs, it earns its own entry here because its primary use case for most teams is research rather than general thinking or writing.</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Strategists doing category research, competitive monitoring, and trend tracking where current, cited information is essential.</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Start here for any new category or client you're unfamiliar with. Run Perplexity Pages on competitive landscapes and share internally before briefing. Best used as a fast first pass before going deeper with other tools.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Real-time retrieval — not limited to model training data</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Every answer cites the source for easy verification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Perplexity Pages creates shareable research documents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Faster research starting point than building a Deep Research prompt</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Analysis depth shallower than Deep Research for complex synthesis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Source quality depends on Perplexity's indexing choices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suited for generative or creative tasks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Citation-backed answers, real-time web search, Perplexity Pages</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perplexity.ai</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3B82F6"/>
          </a:solidFill>
          <a:ln w="12700">
            <a:solidFill>
              <a:srgbClr val="3B82F6"/>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ChatGPT Deep Research</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3B82F6"/>
                </a:solidFill>
                <a:latin typeface="Calibri" pitchFamily="34" charset="0"/>
                <a:ea typeface="Calibri" pitchFamily="34" charset="-122"/>
                <a:cs typeface="Calibri" pitchFamily="34" charset="-120"/>
              </a:rPr>
              <a:t>RESEARCH &amp; INSIGHTS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OpenAI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Included with ChatGPT Plus and above</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3B82F6"/>
                </a:solidFill>
                <a:latin typeface="Calibri" pitchFamily="34" charset="0"/>
                <a:ea typeface="Calibri" pitchFamily="34" charset="-122"/>
                <a:cs typeface="Calibri" pitchFamily="34" charset="-120"/>
              </a:rPr>
              <a:t>Multi-source research reports in minutes, cited and structured</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Deep Research is a ChatGPT feature that conducts multi-step web research on a topic and returns a comprehensive, sourced report. It searches across dozens of sources, reasons about conflicting information, and produces structured long-form analysis in a fraction of the time manual research would take.</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Strategists and planners who need dense, sourced background research before a pitch, brief, or category entry.</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Give it a well-scoped research question, not a vague topic. The more specific you are about what you need to know and why, the more usable the output. Treat the result as a strong first draft to verify and expand, not a finished deliverable.</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Comprehensive multi-source research reports from a single prompt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Sources are cited and structured for easy verification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Covers complex topics with genuine analytical depth</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Available within ChatGPT — no additional tool required</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Restricted to ChatGPT Plus subscribers and above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Can be slow — some reports take 5-15 minutes to complete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 quality varies — particularly on niche or fast-moving topics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Still benefits from a well-scoped question rather than broad prompts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Multi-source research, cited and structured report, competitive and category analysis</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chat.openai.com</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3B82F6"/>
          </a:solidFill>
          <a:ln w="12700">
            <a:solidFill>
              <a:srgbClr val="3B82F6"/>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Gemini Deep Research</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3B82F6"/>
                </a:solidFill>
                <a:latin typeface="Calibri" pitchFamily="34" charset="0"/>
                <a:ea typeface="Calibri" pitchFamily="34" charset="-122"/>
                <a:cs typeface="Calibri" pitchFamily="34" charset="-120"/>
              </a:rPr>
              <a:t>RESEARCH &amp; INSIGHTS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Google</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Included with Google AI Pro subscription</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3B82F6"/>
                </a:solidFill>
                <a:latin typeface="Calibri" pitchFamily="34" charset="0"/>
                <a:ea typeface="Calibri" pitchFamily="34" charset="-122"/>
                <a:cs typeface="Calibri" pitchFamily="34" charset="-120"/>
              </a:rPr>
              <a:t>Google's equivalent to ChatGPT Deep Research, with Workspace export</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Gemini Deep Research is Google's multi-source AI research feature, directly competitive with ChatGPT's version. It searches, synthesizes, and produces structured reports from a single prompt, with the added advantage of exporting directly to Google Docs — keeping research within the Workspace ecosystem.</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Teams already running on Google Workspace who want deep research output that flows directly into Docs without copy-paste friction.</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when your team lives in Google Workspace and exports to Docs are the natural format. Compare output quality against ChatGPT Deep Research on the same brief to determine which performs better for your specific research type.</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Exports directly to Google Docs — seamless for Workspace teams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Competitive quality with ChatGPT Deep Research</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Integrated into Gemini subscription, no additional cost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Works well alongside other Gemini Workspace integrations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a Gemini subscription for full Deep Research access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established than ChatGPT's version with fewer community examples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 quality still variable on highly specific or niche topics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Google Docs export is the primary workflow advantage — less useful outside Workspace</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Multi-source research, Google Docs export, Workspace integration</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gemini.google.com</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09</a:t>
            </a:r>
            <a:endParaRPr lang="en-US" sz="13000" dirty="0"/>
          </a:p>
        </p:txBody>
      </p:sp>
      <p:sp>
        <p:nvSpPr>
          <p:cNvPr id="3" name="Shape 1"/>
          <p:cNvSpPr/>
          <p:nvPr/>
        </p:nvSpPr>
        <p:spPr>
          <a:xfrm>
            <a:off x="594360" y="1508760"/>
            <a:ext cx="457200" cy="64008"/>
          </a:xfrm>
          <a:prstGeom prst="rect">
            <a:avLst/>
          </a:prstGeom>
          <a:solidFill>
            <a:srgbClr val="6366F1"/>
          </a:solidFill>
          <a:ln w="12700">
            <a:solidFill>
              <a:srgbClr val="6366F1"/>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Workflow &amp; Productivity</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AI tools for coding, task automation, and non-developer file and project management</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6366F1"/>
                </a:solidFill>
                <a:latin typeface="Calibri" pitchFamily="34" charset="0"/>
                <a:ea typeface="Calibri" pitchFamily="34" charset="-122"/>
                <a:cs typeface="Calibri" pitchFamily="34" charset="-120"/>
              </a:rPr>
              <a:t>5 tools in this section</a:t>
            </a:r>
            <a:endParaRPr lang="en-US" sz="1100" dirty="0"/>
          </a:p>
        </p:txBody>
      </p:sp>
      <p:sp>
        <p:nvSpPr>
          <p:cNvPr id="7" name="Shape 5"/>
          <p:cNvSpPr/>
          <p:nvPr/>
        </p:nvSpPr>
        <p:spPr>
          <a:xfrm>
            <a:off x="0" y="4960620"/>
            <a:ext cx="9144000" cy="182880"/>
          </a:xfrm>
          <a:prstGeom prst="rect">
            <a:avLst/>
          </a:prstGeom>
          <a:solidFill>
            <a:srgbClr val="6366F1"/>
          </a:solidFill>
          <a:ln w="12700">
            <a:solidFill>
              <a:srgbClr val="6366F1"/>
            </a:solidFill>
            <a:prstDash val="solid"/>
          </a:ln>
        </p:spPr>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GitHub Copilot</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WORKFLOW &amp; PRODUCTIVITY</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GitHub / Microsoft</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Individual $10/mo / Business $19/mo per user</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The AI that codes alongside you, built into your development environment</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GitHub Copilot is an AI coding assistant integrated into VS Code, JetBrains, and other IDEs. It suggests code completions, writes functions from comments, explains code, and provides an AI chat interface for coding questions — all without leaving the development environment.</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Developer teams and technical producers who write code as part of their work. Agency technologists building internal tools, prototypes, or client-facing digital products.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for boilerplate code, repetitive patterns, and documentation rather than expecting it to write complex logic autonomously. Copilot Chat is useful for explaining unfamiliar code. Best value in languages you already know but want to work faster in.</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Deeply integrated into existing development environments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code completion quality across most programming languages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Workspace feature understands full codebase context for relevant suggestions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Code review and explanation capabilities alongside generation</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existing programming knowledge to use effectively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Suggestions need careful review and validation before use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Adds subscription cost on top of existing development tool costs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useful for non-technical team members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IDE integration, inline suggestions, Copilot Chat, code explanation, PR review assistance</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github.com/features/copilot</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Cursor</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WORKFLOW &amp; PRODUCTIVITY</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Cursor</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Pro $20/mo / Business $40/mo per user</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The AI code editor built around conversation with your codebase</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Cursor is a VS Code fork with AI deeply integrated into the editing experience. It goes beyond completion suggestions to allow natural language editing across entire files, codebase-aware context, and agent-style autonomous code changes based on plain language instructions.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Developers who want a more aggressive AI-assisted coding experience. Technical teams comfortable with AI making substantive changes to their codebase under instruction.</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Start with single-file edits before moving to multi-file Composer tasks. The value compounds when you trust it with larger structural work. Code review discipline is more important here than with traditional editors — AI changes can introduce subtle bugs.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Codebase-aware context understands how changes ripple across files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Natural language editing for larger structural changes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Composer mode for multi-file autonomous edits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Fast-moving development with frequent capability updates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Managing AI changes requires strong code review discipline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Cost adds up at higher usage tiers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Some users report dependency-like workflow shifts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VS Code familiarity is a prerequisite — not a standalone tool</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Codebase context, natural language editing, Composer multi-file mode, Tab completion</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cursor.com</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Claude Code</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WORKFLOW &amp; PRODUCTIVITY</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Anthropic</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Requires Claude Pro or higher subscription</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Agentic coding from the terminal, for developers who want Claude in their workflow</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Claude Code is Anthropic's command-line interface for coding tasks. It gives developers direct access to Claude's capabilities from the terminal — reading, writing, and editing files, running commands, and working autonomously on multi-step coding tasks without a browser or GUI.</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Developers who prefer terminal-based workflows. Technical teams building internal tools who want Claude integrated directly into their development environment.</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within a Git-tracked project so all changes are reversible. Start with small, well-defined tasks before using for larger autonomous operations. Combine with Claude Projects for persistent context across coding sessions.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Works directly in existing terminal and IDE workflows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Handles multi-step agentic tasks with file read and write access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context from being able to read the actual codebase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 context-switching to a browser or separate tool</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comfort with command-line interfaces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Mistakes can modify files directly — good version control habits are essential</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visual feedback than GUI-based tools like Cursor</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Currently best suited to technical users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Terminal-native, file read/write, agentic task execution, Git integration</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anthropic.com/claude-code</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Claude Cowork</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WORKFLOW &amp; PRODUCTIVITY</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Anthropic</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Requires Claude Pro or higher subscription</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Desktop AI for non-developers, built for file and task management</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Claude Cowork is Anthropic's desktop application for non-technical users, giving Claude direct access to files and folders on the user's machine. It bridges Claude's capabilities and everyday knowledge work by removing the copy-paste workflow of browser-based chat. This presentation was built using Cowork.</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Strategists, account managers, and marketing professionals who want AI integrated into desktop file workflows without writing code or using a terminal.</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Set up a workspace folder for an active project and use it for document drafting, research synthesis, and file organization. Leverage skills for specialized outputs. The fact that this presentation itself was built using Cowork is the best proof point for how it works.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Works with actual files on the machine rather than copy-pasted content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Skill system extends capability to specific tasks — presentations, spreadsheets, documents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 technical knowledge required to get value from Claude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Connects to third-party tools via integrations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Still in research preview as of 2026 — feature set is evolving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suited to highly technical or development workflows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understanding of how to direct AI effectively on longer tasks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Preview status means some rough edges remain</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Desktop file access, skill system, third-party integrations, non-technical users</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anthropic.com/claude/cowork</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Replit</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WORKFLOW &amp; PRODUCTIVITY</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Replit</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 Core $25/mo / Pro $100/mo + $0.25/checkpoint for Agent</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From idea to live URL without touching a terminal</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Replit is a browser-based development environment with AI built in. Describe what you want to build in plain language and Replit Agent writes the code, provisions the database, and deploys a live app — no installation, no terminal, no local setup required.</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Agency strategists, project managers, or account leads who want to build quick internal tools without waiting for developer availability. Rapid prototyping for pitches.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Describe what you want as specifically as possible before Agent starts. Vague prompts lead to expensive rebuilds. Use checkpoint rollback when something goes wrong rather than trying to patch forward. Set a credit budget before starting any significant build.</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 setup required — builds and deploys entirely in the browser</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Non-developers can initiate and direct builds through plain language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Live URL output makes results immediately shareable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Collaborative building with teammates on Pro plans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Agent checkpoint billing ($0.25/checkpoint) runs 3-4x above base subscription cost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Agent quality degrades on complex business logic</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Generated code quality requires review before production use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Better for internal tools and prototypes than production products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Agent 3 (up to 200-min autonomous sessions), zero-setup deployment, checkpoint rollback, live URL</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replit.com</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10</a:t>
            </a:r>
            <a:endParaRPr lang="en-US" sz="13000" dirty="0"/>
          </a:p>
        </p:txBody>
      </p:sp>
      <p:sp>
        <p:nvSpPr>
          <p:cNvPr id="3" name="Shape 1"/>
          <p:cNvSpPr/>
          <p:nvPr/>
        </p:nvSpPr>
        <p:spPr>
          <a:xfrm>
            <a:off x="594360" y="1508760"/>
            <a:ext cx="457200" cy="64008"/>
          </a:xfrm>
          <a:prstGeom prst="rect">
            <a:avLst/>
          </a:prstGeom>
          <a:solidFill>
            <a:srgbClr val="F97316"/>
          </a:solidFill>
          <a:ln w="12700">
            <a:solidFill>
              <a:srgbClr val="F97316"/>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Presentation &amp; Design</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AI tools for visual design, presentations, and collaborative creative work</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F97316"/>
                </a:solidFill>
                <a:latin typeface="Calibri" pitchFamily="34" charset="0"/>
                <a:ea typeface="Calibri" pitchFamily="34" charset="-122"/>
                <a:cs typeface="Calibri" pitchFamily="34" charset="-120"/>
              </a:rPr>
              <a:t>3 tools in this section</a:t>
            </a:r>
            <a:endParaRPr lang="en-US" sz="1100" dirty="0"/>
          </a:p>
        </p:txBody>
      </p:sp>
      <p:sp>
        <p:nvSpPr>
          <p:cNvPr id="7" name="Shape 5"/>
          <p:cNvSpPr/>
          <p:nvPr/>
        </p:nvSpPr>
        <p:spPr>
          <a:xfrm>
            <a:off x="0" y="4960620"/>
            <a:ext cx="9144000" cy="182880"/>
          </a:xfrm>
          <a:prstGeom prst="rect">
            <a:avLst/>
          </a:prstGeom>
          <a:solidFill>
            <a:srgbClr val="F97316"/>
          </a:solidFill>
          <a:ln w="12700">
            <a:solidFill>
              <a:srgbClr val="F97316"/>
            </a:solidFill>
            <a:prstDash val="solid"/>
          </a:ln>
        </p:spPr>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F97316"/>
          </a:solidFill>
          <a:ln w="12700">
            <a:solidFill>
              <a:srgbClr val="F97316"/>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Canva AI</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F97316"/>
                </a:solidFill>
                <a:latin typeface="Calibri" pitchFamily="34" charset="0"/>
                <a:ea typeface="Calibri" pitchFamily="34" charset="-122"/>
                <a:cs typeface="Calibri" pitchFamily="34" charset="-120"/>
              </a:rPr>
              <a:t>PRESENTATION &amp; DESIGN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Canva</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 Pro $15/mo / Teams $10/mo per user</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F97316"/>
                </a:solidFill>
                <a:latin typeface="Calibri" pitchFamily="34" charset="0"/>
                <a:ea typeface="Calibri" pitchFamily="34" charset="-122"/>
                <a:cs typeface="Calibri" pitchFamily="34" charset="-120"/>
              </a:rPr>
              <a:t>Design accessibility for entire teams, with AI throughout</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F9731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Canva is a browser-based design platform built for non-designers, with AI features now woven through every part of the product. Magic Studio includes text-to-image generation, background removal, image expansion, text effects, and an AI video generator — all within Canva's template-first design environment.</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F9731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Account teams, strategists, and marketers who need to produce designed assets without a design background or design team involvement.</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F9731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Set up Brand Kit with brand colors, fonts, and logos before any team member starts creating. Use AI tools for quick asset generation within existing templates rather than as standalone generation tools. Treat Canva as the presentation and asset layer, not the concepting layer.</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Lowest barrier to entry of any design tool</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generation inside an existing design workflow reduces context-switching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Large template library for fast starting points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Brand Kit enforces consistency across all team outputs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Design ceiling is visible — output tends to look recognizably like Canva</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control than Figma for complex or bespoke design work</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generation quality below dedicated tools like Midjourney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Teams produce inconsistent outputs without Brand Kit discipline</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Magic Studio suite, Brand Kit, presentations, video editor, AI background removal</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canva.com</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F97316"/>
          </a:solidFill>
          <a:ln w="12700">
            <a:solidFill>
              <a:srgbClr val="F97316"/>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Gamma</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F97316"/>
                </a:solidFill>
                <a:latin typeface="Calibri" pitchFamily="34" charset="0"/>
                <a:ea typeface="Calibri" pitchFamily="34" charset="-122"/>
                <a:cs typeface="Calibri" pitchFamily="34" charset="-120"/>
              </a:rPr>
              <a:t>PRESENTATION &amp; DESIGN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Gamma</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Plus $8/mo / Pro $15/mo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F97316"/>
                </a:solidFill>
                <a:latin typeface="Calibri" pitchFamily="34" charset="0"/>
                <a:ea typeface="Calibri" pitchFamily="34" charset="-122"/>
                <a:cs typeface="Calibri" pitchFamily="34" charset="-120"/>
              </a:rPr>
              <a:t>AI-native presentations that write themselves from a prompt</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F9731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Gamma is an AI-first presentation and document tool that generates complete, designed decks from a text prompt or outline. It handles layout, visual selection, and structure automatically — producing polished output much faster than building in PowerPoint or Google Slides from scratch.</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F9731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Strategy and account teams needing quick presentations for internal alignment, client status updates, or early-stage concepts without design resources.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F9731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for internal presentations, agency POVs, and early-round client concepts rather than major pitch decks. Provide a detailed outline rather than a brief prompt for better structural output. Iterate on the AI-generated version rather than starting from scratch.</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Fastest path from idea to designed presentation available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 quality significantly above what non-designers produce manually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can update content and redesign simultaneously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Web-based with shareable links — no file management required</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Visual style is recognizable as Gamma to anyone who has seen it before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Limited design control compared to PowerPoint or Figma</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Templated feel undercuts originality for high-stakes client presentations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suitable as a final client-facing deck for major pitches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Text-to-presentation, AI redesign, card-based layout, web sharing, AI content refresh</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gamma.app</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F97316"/>
          </a:solidFill>
          <a:ln w="12700">
            <a:solidFill>
              <a:srgbClr val="F97316"/>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Figma</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F97316"/>
                </a:solidFill>
                <a:latin typeface="Calibri" pitchFamily="34" charset="0"/>
                <a:ea typeface="Calibri" pitchFamily="34" charset="-122"/>
                <a:cs typeface="Calibri" pitchFamily="34" charset="-120"/>
              </a:rPr>
              <a:t>PRESENTATION &amp; DESIGN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Figma</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Professional $12/mo per editor / Org $45/mo per editor</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F97316"/>
                </a:solidFill>
                <a:latin typeface="Calibri" pitchFamily="34" charset="0"/>
                <a:ea typeface="Calibri" pitchFamily="34" charset="-122"/>
                <a:cs typeface="Calibri" pitchFamily="34" charset="-120"/>
              </a:rPr>
              <a:t>The design standard for digital products, with AI arriving</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F9731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Figma is the dominant collaborative design tool for UX, product design, and digital brand work. AI features have been steadily integrated, including design generation from descriptions, prototyping assistance, and design system management tools. Not AI-first, but AI is accelerating work inside it.</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F9731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UX designers, brand designers, and creative technologists working on digital products, branded interfaces, or design systems.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F9731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for any digital product design, website mockups, or brand identity work going to development. Non-designers can participate as reviewers and collaborators without designing. Explore AI generation for component suggestions and layout exploration.</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Industry-standard tool with the widest professional adoption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Real-time collaboration across design, strategy, and development teams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features integrate into existing workflows rather than requiring new ones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plugin ecosystem extending AI capabilities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Steeper learning curve than Canva for non-designers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generation quality inconsistent and still maturing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Full feature value requires design knowledge to direct effectively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Subscription cost significant for larger teams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Real-time collaboration, design systems, prototyping, AI-assisted design, developer handoff</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figma.com</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11</a:t>
            </a:r>
            <a:endParaRPr lang="en-US" sz="13000" dirty="0"/>
          </a:p>
        </p:txBody>
      </p:sp>
      <p:sp>
        <p:nvSpPr>
          <p:cNvPr id="3" name="Shape 1"/>
          <p:cNvSpPr/>
          <p:nvPr/>
        </p:nvSpPr>
        <p:spPr>
          <a:xfrm>
            <a:off x="594360" y="1508760"/>
            <a:ext cx="457200" cy="64008"/>
          </a:xfrm>
          <a:prstGeom prst="rect">
            <a:avLst/>
          </a:prstGeom>
          <a:solidFill>
            <a:srgbClr val="EF4444"/>
          </a:solidFill>
          <a:ln w="12700">
            <a:solidFill>
              <a:srgbClr val="EF4444"/>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Marketing &amp; CRM AI</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AI embedded in the platforms that run client marketing and sales operations</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EF4444"/>
                </a:solidFill>
                <a:latin typeface="Calibri" pitchFamily="34" charset="0"/>
                <a:ea typeface="Calibri" pitchFamily="34" charset="-122"/>
                <a:cs typeface="Calibri" pitchFamily="34" charset="-120"/>
              </a:rPr>
              <a:t>3 tools in this section</a:t>
            </a:r>
            <a:endParaRPr lang="en-US" sz="1100" dirty="0"/>
          </a:p>
        </p:txBody>
      </p:sp>
      <p:sp>
        <p:nvSpPr>
          <p:cNvPr id="7" name="Shape 5"/>
          <p:cNvSpPr/>
          <p:nvPr/>
        </p:nvSpPr>
        <p:spPr>
          <a:xfrm>
            <a:off x="0" y="4960620"/>
            <a:ext cx="9144000" cy="182880"/>
          </a:xfrm>
          <a:prstGeom prst="rect">
            <a:avLst/>
          </a:prstGeom>
          <a:solidFill>
            <a:srgbClr val="EF4444"/>
          </a:solidFill>
          <a:ln w="12700">
            <a:solidFill>
              <a:srgbClr val="EF4444"/>
            </a:solidFill>
            <a:prstDash val="solid"/>
          </a:ln>
        </p:spPr>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F4444"/>
          </a:solidFill>
          <a:ln w="12700">
            <a:solidFill>
              <a:srgbClr val="EF4444"/>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Salesforce Einstein</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F4444"/>
                </a:solidFill>
                <a:latin typeface="Calibri" pitchFamily="34" charset="0"/>
                <a:ea typeface="Calibri" pitchFamily="34" charset="-122"/>
                <a:cs typeface="Calibri" pitchFamily="34" charset="-120"/>
              </a:rPr>
              <a:t>MARKETING &amp; CRM AI</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Salesforce</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Add-on to existing Salesforce licenses / pricing varies</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F4444"/>
                </a:solidFill>
                <a:latin typeface="Calibri" pitchFamily="34" charset="0"/>
                <a:ea typeface="Calibri" pitchFamily="34" charset="-122"/>
                <a:cs typeface="Calibri" pitchFamily="34" charset="-120"/>
              </a:rPr>
              <a:t>AI embedded across the CRM platform most enterprise clients already use</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F4444"/>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Salesforce Einstein is Salesforce's AI layer embedded across Sales Cloud, Service Cloud, Marketing Cloud, and other products. It covers predictive lead scoring, opportunity forecasting, content generation for sales reps, customer segmentation, and campaign optimization — all within the Salesforce ecosystem.</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F4444"/>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Agencies managing CRM and marketing automation for enterprise clients already on Salesforce. Client marketing and sales operations teams with significant Salesforce investment.</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F4444"/>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For agency teams managing client Salesforce instances, Einstein Copilot and Agentforce are the highest-value entry points. Focus on lead scoring and campaign optimization before exploring more complex agent automation.</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 new tool adoption required for existing Salesforce customers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CRM data integration makes AI predictions genuinely relevant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Covers full funnel from lead generation to retention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Agentforce adds autonomous AI agents to the platform</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Value is directly proportional to data quality in the Salesforce instance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Expensive and complex to configure properly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 value without an existing Salesforce implementation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Salesforce expertise to unlock full capability</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Einstein Copilot, Agentforce, predictive lead scoring, campaign optimization, content generation</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salesforce.com/artificial-intelligence</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F4444"/>
          </a:solidFill>
          <a:ln w="12700">
            <a:solidFill>
              <a:srgbClr val="EF4444"/>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HubSpot Breeze</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F4444"/>
                </a:solidFill>
                <a:latin typeface="Calibri" pitchFamily="34" charset="0"/>
                <a:ea typeface="Calibri" pitchFamily="34" charset="-122"/>
                <a:cs typeface="Calibri" pitchFamily="34" charset="-120"/>
              </a:rPr>
              <a:t>MARKETING &amp; CRM AI</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HubSpot</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Included in HubSpot subscriptions (tier-dependent access)</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F4444"/>
                </a:solidFill>
                <a:latin typeface="Calibri" pitchFamily="34" charset="0"/>
                <a:ea typeface="Calibri" pitchFamily="34" charset="-122"/>
                <a:cs typeface="Calibri" pitchFamily="34" charset="-120"/>
              </a:rPr>
              <a:t>AI built into the CRM platform most mid-market clients already live in</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F4444"/>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Breeze is HubSpot's AI system embedded across its CRM, marketing, sales, and service hubs. Breeze Copilot assists with CRM tasks in plain language, Breeze Agents automate specific workflows like prospecting and content creation, and Breeze Intelligence enriches contact data automatically.</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F4444"/>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Agencies managing marketing and CRM work for mid-market clients on HubSpot. Marketing operations teams using HubSpot for demand generation and nurture.</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F4444"/>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Start with Breeze Copilot for CRM tasks before exploring the more complex Agents. Use Content Agent for high-volume email sequences where consistency matters more than creativity. Breeze Intelligence is one of the most immediately valuable features for teams with messy contact data.</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integrated into a tool most mid-market clients already use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Breeze Intelligence removes manual contact data enrichment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Content Agent generates blog posts, landing pages, and emails with CRM context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Prospecting Agent automates outreach sequences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Breeze quality inconsistent — some features more developed than others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Full feature access requires higher HubSpot subscription tiers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Content generation functional but not exceptional for creative work</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Documentation lags behind actual feature development speed</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Breeze Copilot, Content Agent, Prospecting Agent, Social Agent, Breeze Intelligence</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hubspot.com/products/artificial-intelligence</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F4444"/>
          </a:solidFill>
          <a:ln w="12700">
            <a:solidFill>
              <a:srgbClr val="EF4444"/>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HeyGen</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F4444"/>
                </a:solidFill>
                <a:latin typeface="Calibri" pitchFamily="34" charset="0"/>
                <a:ea typeface="Calibri" pitchFamily="34" charset="-122"/>
                <a:cs typeface="Calibri" pitchFamily="34" charset="-120"/>
              </a:rPr>
              <a:t>MARKETING &amp; CRM AI</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HeyGen</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Creator $29/mo / Team $89/mo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F4444"/>
                </a:solidFill>
                <a:latin typeface="Calibri" pitchFamily="34" charset="0"/>
                <a:ea typeface="Calibri" pitchFamily="34" charset="-122"/>
                <a:cs typeface="Calibri" pitchFamily="34" charset="-120"/>
              </a:rPr>
              <a:t>AI avatar videos for spokesperson content without cameras or studios</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F4444"/>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HeyGen is an AI video platform for creating professional spokesperson videos using digital avatars. Upload a script, select or create an avatar, and receive a polished talking-head video in minutes. It handles 40+ languages with automatic lip-syncing — making it a practical localization tool as well as a content production platform.</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F4444"/>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Content and social teams producing spokesperson or explainer video at scale. Global marketing teams needing the same video in multiple languages without re-shoots.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F4444"/>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for internal training, explainer content, and social video where production quality is functional rather than premium. Always disclose AI avatar use in consumer-facing content. Use the video translation feature for cost-effective international content localization.</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Eliminates studio booking, talent scheduling, and production overhead</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500+ avatar options or custom avatar creation from video of a real person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40+ languages with accurate automatic lip-sync</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Significantly faster turnaround than traditional video production</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avatars are recognizable as AI to anyone paying attention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suitable for work requiring authentic human connection or premium quality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Custom avatars require consent documentation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Can create ethical and brand trust questions if not disclosed to audiences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500+ avatar library, 40+ language lip-sync, voice cloning, custom avatars, video translation</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heygen.com</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12</a:t>
            </a:r>
            <a:endParaRPr lang="en-US" sz="13000" dirty="0"/>
          </a:p>
        </p:txBody>
      </p:sp>
      <p:sp>
        <p:nvSpPr>
          <p:cNvPr id="3" name="Shape 1"/>
          <p:cNvSpPr/>
          <p:nvPr/>
        </p:nvSpPr>
        <p:spPr>
          <a:xfrm>
            <a:off x="594360" y="1508760"/>
            <a:ext cx="457200" cy="64008"/>
          </a:xfrm>
          <a:prstGeom prst="rect">
            <a:avLst/>
          </a:prstGeom>
          <a:solidFill>
            <a:srgbClr val="6B7280"/>
          </a:solidFill>
          <a:ln w="12700">
            <a:solidFill>
              <a:srgbClr val="6B7280"/>
            </a:solidFill>
            <a:prstDash val="solid"/>
          </a:ln>
        </p:spPr>
      </p:sp>
      <p:sp>
        <p:nvSpPr>
          <p:cNvPr id="4" name="Text 2"/>
          <p:cNvSpPr/>
          <p:nvPr/>
        </p:nvSpPr>
        <p:spPr>
          <a:xfrm>
            <a:off x="594360" y="1600200"/>
            <a:ext cx="7772400" cy="13716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Watch List</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&amp; Emerging</a:t>
            </a:r>
            <a:endParaRPr lang="en-US" sz="3600" dirty="0"/>
          </a:p>
        </p:txBody>
      </p:sp>
      <p:sp>
        <p:nvSpPr>
          <p:cNvPr id="5" name="Text 3"/>
          <p:cNvSpPr/>
          <p:nvPr/>
        </p:nvSpPr>
        <p:spPr>
          <a:xfrm>
            <a:off x="594360" y="306324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Tools and trends worth tracking — not ready for prime time, but worth knowing about</a:t>
            </a:r>
            <a:endParaRPr lang="en-US" sz="1400" dirty="0"/>
          </a:p>
        </p:txBody>
      </p:sp>
      <p:sp>
        <p:nvSpPr>
          <p:cNvPr id="6" name="Text 4"/>
          <p:cNvSpPr/>
          <p:nvPr/>
        </p:nvSpPr>
        <p:spPr>
          <a:xfrm>
            <a:off x="594360" y="3703320"/>
            <a:ext cx="3657600" cy="36576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4 signals</a:t>
            </a:r>
            <a:endParaRPr lang="en-US" sz="1100" dirty="0"/>
          </a:p>
        </p:txBody>
      </p:sp>
      <p:sp>
        <p:nvSpPr>
          <p:cNvPr id="7" name="Shape 5"/>
          <p:cNvSpPr/>
          <p:nvPr/>
        </p:nvSpPr>
        <p:spPr>
          <a:xfrm>
            <a:off x="0" y="4960620"/>
            <a:ext cx="9144000" cy="182880"/>
          </a:xfrm>
          <a:prstGeom prst="rect">
            <a:avLst/>
          </a:prstGeom>
          <a:solidFill>
            <a:srgbClr val="6B7280"/>
          </a:solidFill>
          <a:ln w="12700">
            <a:solidFill>
              <a:srgbClr val="6B7280"/>
            </a:solidFill>
            <a:prstDash val="solid"/>
          </a:ln>
        </p:spPr>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B7280"/>
          </a:solidFill>
          <a:ln w="12700">
            <a:solidFill>
              <a:srgbClr val="6B7280"/>
            </a:solidFill>
            <a:prstDash val="solid"/>
          </a:ln>
        </p:spPr>
      </p:sp>
      <p:sp>
        <p:nvSpPr>
          <p:cNvPr id="3" name="Text 1"/>
          <p:cNvSpPr/>
          <p:nvPr/>
        </p:nvSpPr>
        <p:spPr>
          <a:xfrm>
            <a:off x="411480" y="347472"/>
            <a:ext cx="8229600" cy="256032"/>
          </a:xfrm>
          <a:prstGeom prst="rect">
            <a:avLst/>
          </a:prstGeom>
          <a:noFill/>
          <a:ln/>
        </p:spPr>
        <p:txBody>
          <a:bodyPr wrap="square" lIns="0" tIns="0" rIns="0" bIns="0" rtlCol="0" anchor="ctr"/>
          <a:lstStyle/>
          <a:p>
            <a:pPr indent="0" marL="0">
              <a:buNone/>
            </a:pPr>
            <a:r>
              <a:rPr lang="en-US" sz="800" b="1" spc="300" kern="0" dirty="0">
                <a:solidFill>
                  <a:srgbClr val="6B7280"/>
                </a:solidFill>
                <a:latin typeface="Calibri" pitchFamily="34" charset="0"/>
                <a:ea typeface="Calibri" pitchFamily="34" charset="-122"/>
                <a:cs typeface="Calibri" pitchFamily="34" charset="-120"/>
              </a:rPr>
              <a:t>WATCH LIST</a:t>
            </a:r>
            <a:endParaRPr lang="en-US" sz="800" dirty="0"/>
          </a:p>
        </p:txBody>
      </p:sp>
      <p:sp>
        <p:nvSpPr>
          <p:cNvPr id="4" name="Text 2"/>
          <p:cNvSpPr/>
          <p:nvPr/>
        </p:nvSpPr>
        <p:spPr>
          <a:xfrm>
            <a:off x="411480" y="640080"/>
            <a:ext cx="6858000" cy="640080"/>
          </a:xfrm>
          <a:prstGeom prst="rect">
            <a:avLst/>
          </a:prstGeom>
          <a:noFill/>
          <a:ln/>
        </p:spPr>
        <p:txBody>
          <a:bodyPr wrap="square" lIns="0" tIns="0" rIns="0" bIns="0"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Mythos</a:t>
            </a:r>
            <a:endParaRPr lang="en-US" sz="2600" dirty="0"/>
          </a:p>
        </p:txBody>
      </p:sp>
      <p:sp>
        <p:nvSpPr>
          <p:cNvPr id="5" name="Text 3"/>
          <p:cNvSpPr/>
          <p:nvPr/>
        </p:nvSpPr>
        <p:spPr>
          <a:xfrm>
            <a:off x="411480" y="1298448"/>
            <a:ext cx="45720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Anthropic</a:t>
            </a:r>
            <a:endParaRPr lang="en-US" sz="1000" dirty="0"/>
          </a:p>
        </p:txBody>
      </p:sp>
      <p:sp>
        <p:nvSpPr>
          <p:cNvPr id="6" name="Shape 4"/>
          <p:cNvSpPr/>
          <p:nvPr/>
        </p:nvSpPr>
        <p:spPr>
          <a:xfrm>
            <a:off x="6949440" y="749808"/>
            <a:ext cx="2011680" cy="274320"/>
          </a:xfrm>
          <a:prstGeom prst="rect">
            <a:avLst/>
          </a:prstGeom>
          <a:solidFill>
            <a:srgbClr val="F3F4F6"/>
          </a:solidFill>
          <a:ln w="12700">
            <a:solidFill>
              <a:srgbClr val="E5E7EB"/>
            </a:solidFill>
            <a:prstDash val="solid"/>
          </a:ln>
        </p:spPr>
      </p:sp>
      <p:sp>
        <p:nvSpPr>
          <p:cNvPr id="7" name="Text 5"/>
          <p:cNvSpPr/>
          <p:nvPr/>
        </p:nvSpPr>
        <p:spPr>
          <a:xfrm>
            <a:off x="6949440" y="749808"/>
            <a:ext cx="2011680" cy="274320"/>
          </a:xfrm>
          <a:prstGeom prst="rect">
            <a:avLst/>
          </a:prstGeom>
          <a:noFill/>
          <a:ln/>
        </p:spPr>
        <p:txBody>
          <a:bodyPr wrap="square" lIns="0" tIns="0" rIns="0" bIns="0"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Restricted Access</a:t>
            </a:r>
            <a:endParaRPr lang="en-US" sz="800" dirty="0"/>
          </a:p>
        </p:txBody>
      </p:sp>
      <p:sp>
        <p:nvSpPr>
          <p:cNvPr id="8" name="Shape 6"/>
          <p:cNvSpPr/>
          <p:nvPr/>
        </p:nvSpPr>
        <p:spPr>
          <a:xfrm>
            <a:off x="411480" y="1664208"/>
            <a:ext cx="8321040" cy="0"/>
          </a:xfrm>
          <a:prstGeom prst="line">
            <a:avLst/>
          </a:prstGeom>
          <a:noFill/>
          <a:ln w="12700">
            <a:solidFill>
              <a:srgbClr val="E5E7EB"/>
            </a:solidFill>
            <a:prstDash val="solid"/>
          </a:ln>
        </p:spPr>
      </p:sp>
      <p:sp>
        <p:nvSpPr>
          <p:cNvPr id="9" name="Text 7"/>
          <p:cNvSpPr/>
          <p:nvPr/>
        </p:nvSpPr>
        <p:spPr>
          <a:xfrm>
            <a:off x="411480" y="1801368"/>
            <a:ext cx="4114800" cy="201168"/>
          </a:xfrm>
          <a:prstGeom prst="rect">
            <a:avLst/>
          </a:prstGeom>
          <a:noFill/>
          <a:ln/>
        </p:spPr>
        <p:txBody>
          <a:bodyPr wrap="square" lIns="0" tIns="0" rIns="0" bIns="0" rtlCol="0" anchor="ctr"/>
          <a:lstStyle/>
          <a:p>
            <a:pPr indent="0" marL="0">
              <a:buNone/>
            </a:pPr>
            <a:r>
              <a:rPr lang="en-US" sz="700" b="1" spc="200" kern="0" dirty="0">
                <a:solidFill>
                  <a:srgbClr val="6B7280"/>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2029968"/>
            <a:ext cx="4114800" cy="118872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Anthropic's most capable model to date, focused on cybersecurity capabilities. Not publicly released as of mid-2026. Accessible to approximately 40 organizations via Project Glasswing.</a:t>
            </a:r>
            <a:endParaRPr lang="en-US" sz="1100" dirty="0"/>
          </a:p>
        </p:txBody>
      </p:sp>
      <p:sp>
        <p:nvSpPr>
          <p:cNvPr id="11" name="Text 9"/>
          <p:cNvSpPr/>
          <p:nvPr/>
        </p:nvSpPr>
        <p:spPr>
          <a:xfrm>
            <a:off x="4754880" y="1801368"/>
            <a:ext cx="4023360" cy="201168"/>
          </a:xfrm>
          <a:prstGeom prst="rect">
            <a:avLst/>
          </a:prstGeom>
          <a:noFill/>
          <a:ln/>
        </p:spPr>
        <p:txBody>
          <a:bodyPr wrap="square" lIns="0" tIns="0" rIns="0" bIns="0" rtlCol="0" anchor="ctr"/>
          <a:lstStyle/>
          <a:p>
            <a:pPr indent="0" marL="0">
              <a:buNone/>
            </a:pPr>
            <a:r>
              <a:rPr lang="en-US" sz="700" b="1" spc="200" kern="0" dirty="0">
                <a:solidFill>
                  <a:srgbClr val="6B7280"/>
                </a:solidFill>
                <a:latin typeface="Calibri" pitchFamily="34" charset="0"/>
                <a:ea typeface="Calibri" pitchFamily="34" charset="-122"/>
                <a:cs typeface="Calibri" pitchFamily="34" charset="-120"/>
              </a:rPr>
              <a:t>WHY IT MATTERS</a:t>
            </a:r>
            <a:endParaRPr lang="en-US" sz="700" dirty="0"/>
          </a:p>
        </p:txBody>
      </p:sp>
      <p:sp>
        <p:nvSpPr>
          <p:cNvPr id="12" name="Text 10"/>
          <p:cNvSpPr/>
          <p:nvPr/>
        </p:nvSpPr>
        <p:spPr>
          <a:xfrm>
            <a:off x="4754880" y="2029968"/>
            <a:ext cx="4023360" cy="118872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The first model Anthropic has explicitly refused to release publicly due to its capabilities. Represents a significant step in raw AI performance. Important not as a tool to use today, but as a signal of where AI capability is heading and how quickly.</a:t>
            </a:r>
            <a:endParaRPr lang="en-US" sz="1100" dirty="0"/>
          </a:p>
        </p:txBody>
      </p:sp>
      <p:sp>
        <p:nvSpPr>
          <p:cNvPr id="13" name="Shape 11"/>
          <p:cNvSpPr/>
          <p:nvPr/>
        </p:nvSpPr>
        <p:spPr>
          <a:xfrm>
            <a:off x="0" y="4617720"/>
            <a:ext cx="9144000" cy="525780"/>
          </a:xfrm>
          <a:prstGeom prst="rect">
            <a:avLst/>
          </a:prstGeom>
          <a:solidFill>
            <a:srgbClr val="F8FAFC"/>
          </a:solidFill>
          <a:ln w="12700">
            <a:solidFill>
              <a:srgbClr val="F8FAFC"/>
            </a:solidFill>
            <a:prstDash val="solid"/>
          </a:ln>
        </p:spPr>
      </p:sp>
      <p:sp>
        <p:nvSpPr>
          <p:cNvPr id="14" name="Text 12"/>
          <p:cNvSpPr/>
          <p:nvPr/>
        </p:nvSpPr>
        <p:spPr>
          <a:xfrm>
            <a:off x="411480" y="4709160"/>
            <a:ext cx="82296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Emerging  ·  Worth tracking</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B7280"/>
          </a:solidFill>
          <a:ln w="12700">
            <a:solidFill>
              <a:srgbClr val="6B7280"/>
            </a:solidFill>
            <a:prstDash val="solid"/>
          </a:ln>
        </p:spPr>
      </p:sp>
      <p:sp>
        <p:nvSpPr>
          <p:cNvPr id="3" name="Text 1"/>
          <p:cNvSpPr/>
          <p:nvPr/>
        </p:nvSpPr>
        <p:spPr>
          <a:xfrm>
            <a:off x="411480" y="347472"/>
            <a:ext cx="8229600" cy="256032"/>
          </a:xfrm>
          <a:prstGeom prst="rect">
            <a:avLst/>
          </a:prstGeom>
          <a:noFill/>
          <a:ln/>
        </p:spPr>
        <p:txBody>
          <a:bodyPr wrap="square" lIns="0" tIns="0" rIns="0" bIns="0" rtlCol="0" anchor="ctr"/>
          <a:lstStyle/>
          <a:p>
            <a:pPr indent="0" marL="0">
              <a:buNone/>
            </a:pPr>
            <a:r>
              <a:rPr lang="en-US" sz="800" b="1" spc="300" kern="0" dirty="0">
                <a:solidFill>
                  <a:srgbClr val="6B7280"/>
                </a:solidFill>
                <a:latin typeface="Calibri" pitchFamily="34" charset="0"/>
                <a:ea typeface="Calibri" pitchFamily="34" charset="-122"/>
                <a:cs typeface="Calibri" pitchFamily="34" charset="-120"/>
              </a:rPr>
              <a:t>WATCH LIST</a:t>
            </a:r>
            <a:endParaRPr lang="en-US" sz="800" dirty="0"/>
          </a:p>
        </p:txBody>
      </p:sp>
      <p:sp>
        <p:nvSpPr>
          <p:cNvPr id="4" name="Text 2"/>
          <p:cNvSpPr/>
          <p:nvPr/>
        </p:nvSpPr>
        <p:spPr>
          <a:xfrm>
            <a:off x="411480" y="640080"/>
            <a:ext cx="6858000" cy="640080"/>
          </a:xfrm>
          <a:prstGeom prst="rect">
            <a:avLst/>
          </a:prstGeom>
          <a:noFill/>
          <a:ln/>
        </p:spPr>
        <p:txBody>
          <a:bodyPr wrap="square" lIns="0" tIns="0" rIns="0" bIns="0"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LTX Studio</a:t>
            </a:r>
            <a:endParaRPr lang="en-US" sz="2600" dirty="0"/>
          </a:p>
        </p:txBody>
      </p:sp>
      <p:sp>
        <p:nvSpPr>
          <p:cNvPr id="5" name="Text 3"/>
          <p:cNvSpPr/>
          <p:nvPr/>
        </p:nvSpPr>
        <p:spPr>
          <a:xfrm>
            <a:off x="411480" y="1298448"/>
            <a:ext cx="45720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Lightricks</a:t>
            </a:r>
            <a:endParaRPr lang="en-US" sz="1000" dirty="0"/>
          </a:p>
        </p:txBody>
      </p:sp>
      <p:sp>
        <p:nvSpPr>
          <p:cNvPr id="6" name="Shape 4"/>
          <p:cNvSpPr/>
          <p:nvPr/>
        </p:nvSpPr>
        <p:spPr>
          <a:xfrm>
            <a:off x="6949440" y="749808"/>
            <a:ext cx="2011680" cy="274320"/>
          </a:xfrm>
          <a:prstGeom prst="rect">
            <a:avLst/>
          </a:prstGeom>
          <a:solidFill>
            <a:srgbClr val="F3F4F6"/>
          </a:solidFill>
          <a:ln w="12700">
            <a:solidFill>
              <a:srgbClr val="E5E7EB"/>
            </a:solidFill>
            <a:prstDash val="solid"/>
          </a:ln>
        </p:spPr>
      </p:sp>
      <p:sp>
        <p:nvSpPr>
          <p:cNvPr id="7" name="Text 5"/>
          <p:cNvSpPr/>
          <p:nvPr/>
        </p:nvSpPr>
        <p:spPr>
          <a:xfrm>
            <a:off x="6949440" y="749808"/>
            <a:ext cx="2011680" cy="274320"/>
          </a:xfrm>
          <a:prstGeom prst="rect">
            <a:avLst/>
          </a:prstGeom>
          <a:noFill/>
          <a:ln/>
        </p:spPr>
        <p:txBody>
          <a:bodyPr wrap="square" lIns="0" tIns="0" rIns="0" bIns="0"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Available</a:t>
            </a:r>
            <a:endParaRPr lang="en-US" sz="800" dirty="0"/>
          </a:p>
        </p:txBody>
      </p:sp>
      <p:sp>
        <p:nvSpPr>
          <p:cNvPr id="8" name="Shape 6"/>
          <p:cNvSpPr/>
          <p:nvPr/>
        </p:nvSpPr>
        <p:spPr>
          <a:xfrm>
            <a:off x="411480" y="1664208"/>
            <a:ext cx="8321040" cy="0"/>
          </a:xfrm>
          <a:prstGeom prst="line">
            <a:avLst/>
          </a:prstGeom>
          <a:noFill/>
          <a:ln w="12700">
            <a:solidFill>
              <a:srgbClr val="E5E7EB"/>
            </a:solidFill>
            <a:prstDash val="solid"/>
          </a:ln>
        </p:spPr>
      </p:sp>
      <p:sp>
        <p:nvSpPr>
          <p:cNvPr id="9" name="Text 7"/>
          <p:cNvSpPr/>
          <p:nvPr/>
        </p:nvSpPr>
        <p:spPr>
          <a:xfrm>
            <a:off x="411480" y="1801368"/>
            <a:ext cx="4114800" cy="201168"/>
          </a:xfrm>
          <a:prstGeom prst="rect">
            <a:avLst/>
          </a:prstGeom>
          <a:noFill/>
          <a:ln/>
        </p:spPr>
        <p:txBody>
          <a:bodyPr wrap="square" lIns="0" tIns="0" rIns="0" bIns="0" rtlCol="0" anchor="ctr"/>
          <a:lstStyle/>
          <a:p>
            <a:pPr indent="0" marL="0">
              <a:buNone/>
            </a:pPr>
            <a:r>
              <a:rPr lang="en-US" sz="700" b="1" spc="200" kern="0" dirty="0">
                <a:solidFill>
                  <a:srgbClr val="6B7280"/>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2029968"/>
            <a:ext cx="4114800" cy="118872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An end-to-end AI video production platform designed specifically for marketing teams. Covers the full production workflow from concept to final asset within a single environment, rather than requiring multiple specialized tools.</a:t>
            </a:r>
            <a:endParaRPr lang="en-US" sz="1100" dirty="0"/>
          </a:p>
        </p:txBody>
      </p:sp>
      <p:sp>
        <p:nvSpPr>
          <p:cNvPr id="11" name="Text 9"/>
          <p:cNvSpPr/>
          <p:nvPr/>
        </p:nvSpPr>
        <p:spPr>
          <a:xfrm>
            <a:off x="4754880" y="1801368"/>
            <a:ext cx="4023360" cy="201168"/>
          </a:xfrm>
          <a:prstGeom prst="rect">
            <a:avLst/>
          </a:prstGeom>
          <a:noFill/>
          <a:ln/>
        </p:spPr>
        <p:txBody>
          <a:bodyPr wrap="square" lIns="0" tIns="0" rIns="0" bIns="0" rtlCol="0" anchor="ctr"/>
          <a:lstStyle/>
          <a:p>
            <a:pPr indent="0" marL="0">
              <a:buNone/>
            </a:pPr>
            <a:r>
              <a:rPr lang="en-US" sz="700" b="1" spc="200" kern="0" dirty="0">
                <a:solidFill>
                  <a:srgbClr val="6B7280"/>
                </a:solidFill>
                <a:latin typeface="Calibri" pitchFamily="34" charset="0"/>
                <a:ea typeface="Calibri" pitchFamily="34" charset="-122"/>
                <a:cs typeface="Calibri" pitchFamily="34" charset="-120"/>
              </a:rPr>
              <a:t>WHY IT MATTERS</a:t>
            </a:r>
            <a:endParaRPr lang="en-US" sz="700" dirty="0"/>
          </a:p>
        </p:txBody>
      </p:sp>
      <p:sp>
        <p:nvSpPr>
          <p:cNvPr id="12" name="Text 10"/>
          <p:cNvSpPr/>
          <p:nvPr/>
        </p:nvSpPr>
        <p:spPr>
          <a:xfrm>
            <a:off x="4754880" y="2029968"/>
            <a:ext cx="4023360" cy="118872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Purpose-built for marketing video production at scale, addressing a genuine gap between general video generators and production-quality output for brand work. Worth watching as a potential consolidation platform for teams producing ongoing video.</a:t>
            </a:r>
            <a:endParaRPr lang="en-US" sz="1100" dirty="0"/>
          </a:p>
        </p:txBody>
      </p:sp>
      <p:sp>
        <p:nvSpPr>
          <p:cNvPr id="13" name="Shape 11"/>
          <p:cNvSpPr/>
          <p:nvPr/>
        </p:nvSpPr>
        <p:spPr>
          <a:xfrm>
            <a:off x="0" y="4617720"/>
            <a:ext cx="9144000" cy="525780"/>
          </a:xfrm>
          <a:prstGeom prst="rect">
            <a:avLst/>
          </a:prstGeom>
          <a:solidFill>
            <a:srgbClr val="F8FAFC"/>
          </a:solidFill>
          <a:ln w="12700">
            <a:solidFill>
              <a:srgbClr val="F8FAFC"/>
            </a:solidFill>
            <a:prstDash val="solid"/>
          </a:ln>
        </p:spPr>
      </p:sp>
      <p:sp>
        <p:nvSpPr>
          <p:cNvPr id="14" name="Text 12"/>
          <p:cNvSpPr/>
          <p:nvPr/>
        </p:nvSpPr>
        <p:spPr>
          <a:xfrm>
            <a:off x="411480" y="4709160"/>
            <a:ext cx="82296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Emerging  ·  Worth tracking</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B7280"/>
          </a:solidFill>
          <a:ln w="12700">
            <a:solidFill>
              <a:srgbClr val="6B7280"/>
            </a:solidFill>
            <a:prstDash val="solid"/>
          </a:ln>
        </p:spPr>
      </p:sp>
      <p:sp>
        <p:nvSpPr>
          <p:cNvPr id="3" name="Text 1"/>
          <p:cNvSpPr/>
          <p:nvPr/>
        </p:nvSpPr>
        <p:spPr>
          <a:xfrm>
            <a:off x="411480" y="347472"/>
            <a:ext cx="8229600" cy="256032"/>
          </a:xfrm>
          <a:prstGeom prst="rect">
            <a:avLst/>
          </a:prstGeom>
          <a:noFill/>
          <a:ln/>
        </p:spPr>
        <p:txBody>
          <a:bodyPr wrap="square" lIns="0" tIns="0" rIns="0" bIns="0" rtlCol="0" anchor="ctr"/>
          <a:lstStyle/>
          <a:p>
            <a:pPr indent="0" marL="0">
              <a:buNone/>
            </a:pPr>
            <a:r>
              <a:rPr lang="en-US" sz="800" b="1" spc="300" kern="0" dirty="0">
                <a:solidFill>
                  <a:srgbClr val="6B7280"/>
                </a:solidFill>
                <a:latin typeface="Calibri" pitchFamily="34" charset="0"/>
                <a:ea typeface="Calibri" pitchFamily="34" charset="-122"/>
                <a:cs typeface="Calibri" pitchFamily="34" charset="-120"/>
              </a:rPr>
              <a:t>WATCH LIST</a:t>
            </a:r>
            <a:endParaRPr lang="en-US" sz="800" dirty="0"/>
          </a:p>
        </p:txBody>
      </p:sp>
      <p:sp>
        <p:nvSpPr>
          <p:cNvPr id="4" name="Text 2"/>
          <p:cNvSpPr/>
          <p:nvPr/>
        </p:nvSpPr>
        <p:spPr>
          <a:xfrm>
            <a:off x="411480" y="640080"/>
            <a:ext cx="6858000" cy="640080"/>
          </a:xfrm>
          <a:prstGeom prst="rect">
            <a:avLst/>
          </a:prstGeom>
          <a:noFill/>
          <a:ln/>
        </p:spPr>
        <p:txBody>
          <a:bodyPr wrap="square" lIns="0" tIns="0" rIns="0" bIns="0"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AI Answer Engine Optimization</a:t>
            </a:r>
            <a:endParaRPr lang="en-US" sz="2600" dirty="0"/>
          </a:p>
        </p:txBody>
      </p:sp>
      <p:sp>
        <p:nvSpPr>
          <p:cNvPr id="5" name="Text 3"/>
          <p:cNvSpPr/>
          <p:nvPr/>
        </p:nvSpPr>
        <p:spPr>
          <a:xfrm>
            <a:off x="411480" y="1298448"/>
            <a:ext cx="45720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Emerging Category</a:t>
            </a:r>
            <a:endParaRPr lang="en-US" sz="1000" dirty="0"/>
          </a:p>
        </p:txBody>
      </p:sp>
      <p:sp>
        <p:nvSpPr>
          <p:cNvPr id="6" name="Shape 4"/>
          <p:cNvSpPr/>
          <p:nvPr/>
        </p:nvSpPr>
        <p:spPr>
          <a:xfrm>
            <a:off x="6949440" y="749808"/>
            <a:ext cx="2011680" cy="274320"/>
          </a:xfrm>
          <a:prstGeom prst="rect">
            <a:avLst/>
          </a:prstGeom>
          <a:solidFill>
            <a:srgbClr val="F3F4F6"/>
          </a:solidFill>
          <a:ln w="12700">
            <a:solidFill>
              <a:srgbClr val="E5E7EB"/>
            </a:solidFill>
            <a:prstDash val="solid"/>
          </a:ln>
        </p:spPr>
      </p:sp>
      <p:sp>
        <p:nvSpPr>
          <p:cNvPr id="7" name="Text 5"/>
          <p:cNvSpPr/>
          <p:nvPr/>
        </p:nvSpPr>
        <p:spPr>
          <a:xfrm>
            <a:off x="6949440" y="749808"/>
            <a:ext cx="2011680" cy="274320"/>
          </a:xfrm>
          <a:prstGeom prst="rect">
            <a:avLst/>
          </a:prstGeom>
          <a:noFill/>
          <a:ln/>
        </p:spPr>
        <p:txBody>
          <a:bodyPr wrap="square" lIns="0" tIns="0" rIns="0" bIns="0"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Emerging</a:t>
            </a:r>
            <a:endParaRPr lang="en-US" sz="800" dirty="0"/>
          </a:p>
        </p:txBody>
      </p:sp>
      <p:sp>
        <p:nvSpPr>
          <p:cNvPr id="8" name="Shape 6"/>
          <p:cNvSpPr/>
          <p:nvPr/>
        </p:nvSpPr>
        <p:spPr>
          <a:xfrm>
            <a:off x="411480" y="1664208"/>
            <a:ext cx="8321040" cy="0"/>
          </a:xfrm>
          <a:prstGeom prst="line">
            <a:avLst/>
          </a:prstGeom>
          <a:noFill/>
          <a:ln w="12700">
            <a:solidFill>
              <a:srgbClr val="E5E7EB"/>
            </a:solidFill>
            <a:prstDash val="solid"/>
          </a:ln>
        </p:spPr>
      </p:sp>
      <p:sp>
        <p:nvSpPr>
          <p:cNvPr id="9" name="Text 7"/>
          <p:cNvSpPr/>
          <p:nvPr/>
        </p:nvSpPr>
        <p:spPr>
          <a:xfrm>
            <a:off x="411480" y="1801368"/>
            <a:ext cx="4114800" cy="201168"/>
          </a:xfrm>
          <a:prstGeom prst="rect">
            <a:avLst/>
          </a:prstGeom>
          <a:noFill/>
          <a:ln/>
        </p:spPr>
        <p:txBody>
          <a:bodyPr wrap="square" lIns="0" tIns="0" rIns="0" bIns="0" rtlCol="0" anchor="ctr"/>
          <a:lstStyle/>
          <a:p>
            <a:pPr indent="0" marL="0">
              <a:buNone/>
            </a:pPr>
            <a:r>
              <a:rPr lang="en-US" sz="700" b="1" spc="200" kern="0" dirty="0">
                <a:solidFill>
                  <a:srgbClr val="6B7280"/>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2029968"/>
            <a:ext cx="4114800" cy="118872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Not a single tool, but an emerging practice: optimizing brand presence and content for AI-powered search results and recommendations. As ChatGPT, Perplexity, Gemini, and AI Overviews change how people find information, brands need visibility in AI-generated answers.</a:t>
            </a:r>
            <a:endParaRPr lang="en-US" sz="1100" dirty="0"/>
          </a:p>
        </p:txBody>
      </p:sp>
      <p:sp>
        <p:nvSpPr>
          <p:cNvPr id="11" name="Text 9"/>
          <p:cNvSpPr/>
          <p:nvPr/>
        </p:nvSpPr>
        <p:spPr>
          <a:xfrm>
            <a:off x="4754880" y="1801368"/>
            <a:ext cx="4023360" cy="201168"/>
          </a:xfrm>
          <a:prstGeom prst="rect">
            <a:avLst/>
          </a:prstGeom>
          <a:noFill/>
          <a:ln/>
        </p:spPr>
        <p:txBody>
          <a:bodyPr wrap="square" lIns="0" tIns="0" rIns="0" bIns="0" rtlCol="0" anchor="ctr"/>
          <a:lstStyle/>
          <a:p>
            <a:pPr indent="0" marL="0">
              <a:buNone/>
            </a:pPr>
            <a:r>
              <a:rPr lang="en-US" sz="700" b="1" spc="200" kern="0" dirty="0">
                <a:solidFill>
                  <a:srgbClr val="6B7280"/>
                </a:solidFill>
                <a:latin typeface="Calibri" pitchFamily="34" charset="0"/>
                <a:ea typeface="Calibri" pitchFamily="34" charset="-122"/>
                <a:cs typeface="Calibri" pitchFamily="34" charset="-120"/>
              </a:rPr>
              <a:t>WHY IT MATTERS</a:t>
            </a:r>
            <a:endParaRPr lang="en-US" sz="700" dirty="0"/>
          </a:p>
        </p:txBody>
      </p:sp>
      <p:sp>
        <p:nvSpPr>
          <p:cNvPr id="12" name="Text 10"/>
          <p:cNvSpPr/>
          <p:nvPr/>
        </p:nvSpPr>
        <p:spPr>
          <a:xfrm>
            <a:off x="4754880" y="2029968"/>
            <a:ext cx="4023360" cy="118872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The same way SEO became a discipline when Google changed search, AEO is forming as a discipline as AI changes how people discover brands, products, and information. The agencies that get ahead of this will have a durable advantage for clients.</a:t>
            </a:r>
            <a:endParaRPr lang="en-US" sz="1100" dirty="0"/>
          </a:p>
        </p:txBody>
      </p:sp>
      <p:sp>
        <p:nvSpPr>
          <p:cNvPr id="13" name="Shape 11"/>
          <p:cNvSpPr/>
          <p:nvPr/>
        </p:nvSpPr>
        <p:spPr>
          <a:xfrm>
            <a:off x="0" y="4617720"/>
            <a:ext cx="9144000" cy="525780"/>
          </a:xfrm>
          <a:prstGeom prst="rect">
            <a:avLst/>
          </a:prstGeom>
          <a:solidFill>
            <a:srgbClr val="F8FAFC"/>
          </a:solidFill>
          <a:ln w="12700">
            <a:solidFill>
              <a:srgbClr val="F8FAFC"/>
            </a:solidFill>
            <a:prstDash val="solid"/>
          </a:ln>
        </p:spPr>
      </p:sp>
      <p:sp>
        <p:nvSpPr>
          <p:cNvPr id="14" name="Text 12"/>
          <p:cNvSpPr/>
          <p:nvPr/>
        </p:nvSpPr>
        <p:spPr>
          <a:xfrm>
            <a:off x="411480" y="4709160"/>
            <a:ext cx="82296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Emerging  ·  Worth tracking</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B7280"/>
          </a:solidFill>
          <a:ln w="12700">
            <a:solidFill>
              <a:srgbClr val="6B7280"/>
            </a:solidFill>
            <a:prstDash val="solid"/>
          </a:ln>
        </p:spPr>
      </p:sp>
      <p:sp>
        <p:nvSpPr>
          <p:cNvPr id="3" name="Text 1"/>
          <p:cNvSpPr/>
          <p:nvPr/>
        </p:nvSpPr>
        <p:spPr>
          <a:xfrm>
            <a:off x="411480" y="347472"/>
            <a:ext cx="8229600" cy="256032"/>
          </a:xfrm>
          <a:prstGeom prst="rect">
            <a:avLst/>
          </a:prstGeom>
          <a:noFill/>
          <a:ln/>
        </p:spPr>
        <p:txBody>
          <a:bodyPr wrap="square" lIns="0" tIns="0" rIns="0" bIns="0" rtlCol="0" anchor="ctr"/>
          <a:lstStyle/>
          <a:p>
            <a:pPr indent="0" marL="0">
              <a:buNone/>
            </a:pPr>
            <a:r>
              <a:rPr lang="en-US" sz="800" b="1" spc="300" kern="0" dirty="0">
                <a:solidFill>
                  <a:srgbClr val="6B7280"/>
                </a:solidFill>
                <a:latin typeface="Calibri" pitchFamily="34" charset="0"/>
                <a:ea typeface="Calibri" pitchFamily="34" charset="-122"/>
                <a:cs typeface="Calibri" pitchFamily="34" charset="-120"/>
              </a:rPr>
              <a:t>WATCH LIST</a:t>
            </a:r>
            <a:endParaRPr lang="en-US" sz="800" dirty="0"/>
          </a:p>
        </p:txBody>
      </p:sp>
      <p:sp>
        <p:nvSpPr>
          <p:cNvPr id="4" name="Text 2"/>
          <p:cNvSpPr/>
          <p:nvPr/>
        </p:nvSpPr>
        <p:spPr>
          <a:xfrm>
            <a:off x="411480" y="640080"/>
            <a:ext cx="6858000" cy="640080"/>
          </a:xfrm>
          <a:prstGeom prst="rect">
            <a:avLst/>
          </a:prstGeom>
          <a:noFill/>
          <a:ln/>
        </p:spPr>
        <p:txBody>
          <a:bodyPr wrap="square" lIns="0" tIns="0" rIns="0" bIns="0"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OpenClaw + NVIDIA NemoClaw</a:t>
            </a:r>
            <a:endParaRPr lang="en-US" sz="2600" dirty="0"/>
          </a:p>
        </p:txBody>
      </p:sp>
      <p:sp>
        <p:nvSpPr>
          <p:cNvPr id="5" name="Text 3"/>
          <p:cNvSpPr/>
          <p:nvPr/>
        </p:nvSpPr>
        <p:spPr>
          <a:xfrm>
            <a:off x="411480" y="1298448"/>
            <a:ext cx="45720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OpenClaw / NVIDIA</a:t>
            </a:r>
            <a:endParaRPr lang="en-US" sz="1000" dirty="0"/>
          </a:p>
        </p:txBody>
      </p:sp>
      <p:sp>
        <p:nvSpPr>
          <p:cNvPr id="6" name="Shape 4"/>
          <p:cNvSpPr/>
          <p:nvPr/>
        </p:nvSpPr>
        <p:spPr>
          <a:xfrm>
            <a:off x="6949440" y="749808"/>
            <a:ext cx="2011680" cy="274320"/>
          </a:xfrm>
          <a:prstGeom prst="rect">
            <a:avLst/>
          </a:prstGeom>
          <a:solidFill>
            <a:srgbClr val="F3F4F6"/>
          </a:solidFill>
          <a:ln w="12700">
            <a:solidFill>
              <a:srgbClr val="E5E7EB"/>
            </a:solidFill>
            <a:prstDash val="solid"/>
          </a:ln>
        </p:spPr>
      </p:sp>
      <p:sp>
        <p:nvSpPr>
          <p:cNvPr id="7" name="Text 5"/>
          <p:cNvSpPr/>
          <p:nvPr/>
        </p:nvSpPr>
        <p:spPr>
          <a:xfrm>
            <a:off x="6949440" y="749808"/>
            <a:ext cx="2011680" cy="274320"/>
          </a:xfrm>
          <a:prstGeom prst="rect">
            <a:avLst/>
          </a:prstGeom>
          <a:noFill/>
          <a:ln/>
        </p:spPr>
        <p:txBody>
          <a:bodyPr wrap="square" lIns="0" tIns="0" rIns="0" bIns="0"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Early Preview</a:t>
            </a:r>
            <a:endParaRPr lang="en-US" sz="800" dirty="0"/>
          </a:p>
        </p:txBody>
      </p:sp>
      <p:sp>
        <p:nvSpPr>
          <p:cNvPr id="8" name="Shape 6"/>
          <p:cNvSpPr/>
          <p:nvPr/>
        </p:nvSpPr>
        <p:spPr>
          <a:xfrm>
            <a:off x="411480" y="1664208"/>
            <a:ext cx="8321040" cy="0"/>
          </a:xfrm>
          <a:prstGeom prst="line">
            <a:avLst/>
          </a:prstGeom>
          <a:noFill/>
          <a:ln w="12700">
            <a:solidFill>
              <a:srgbClr val="E5E7EB"/>
            </a:solidFill>
            <a:prstDash val="solid"/>
          </a:ln>
        </p:spPr>
      </p:sp>
      <p:sp>
        <p:nvSpPr>
          <p:cNvPr id="9" name="Text 7"/>
          <p:cNvSpPr/>
          <p:nvPr/>
        </p:nvSpPr>
        <p:spPr>
          <a:xfrm>
            <a:off x="411480" y="1801368"/>
            <a:ext cx="4114800" cy="201168"/>
          </a:xfrm>
          <a:prstGeom prst="rect">
            <a:avLst/>
          </a:prstGeom>
          <a:noFill/>
          <a:ln/>
        </p:spPr>
        <p:txBody>
          <a:bodyPr wrap="square" lIns="0" tIns="0" rIns="0" bIns="0" rtlCol="0" anchor="ctr"/>
          <a:lstStyle/>
          <a:p>
            <a:pPr indent="0" marL="0">
              <a:buNone/>
            </a:pPr>
            <a:r>
              <a:rPr lang="en-US" sz="700" b="1" spc="200" kern="0" dirty="0">
                <a:solidFill>
                  <a:srgbClr val="6B7280"/>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2029968"/>
            <a:ext cx="4114800" cy="118872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OpenClaw is an open-source AI agent framework that runs persistently on a local machine, using messaging apps (WhatsApp, Telegram, Slack, iMessage) as its primary interface. Always-on with 100+ pre-built agent skills. NemoClaw is NVIDIA's enterprise security layer built on top — kernel-level sandboxing and a deny-by-default permission model.</a:t>
            </a:r>
            <a:endParaRPr lang="en-US" sz="1100" dirty="0"/>
          </a:p>
        </p:txBody>
      </p:sp>
      <p:sp>
        <p:nvSpPr>
          <p:cNvPr id="11" name="Text 9"/>
          <p:cNvSpPr/>
          <p:nvPr/>
        </p:nvSpPr>
        <p:spPr>
          <a:xfrm>
            <a:off x="4754880" y="1801368"/>
            <a:ext cx="4023360" cy="201168"/>
          </a:xfrm>
          <a:prstGeom prst="rect">
            <a:avLst/>
          </a:prstGeom>
          <a:noFill/>
          <a:ln/>
        </p:spPr>
        <p:txBody>
          <a:bodyPr wrap="square" lIns="0" tIns="0" rIns="0" bIns="0" rtlCol="0" anchor="ctr"/>
          <a:lstStyle/>
          <a:p>
            <a:pPr indent="0" marL="0">
              <a:buNone/>
            </a:pPr>
            <a:r>
              <a:rPr lang="en-US" sz="700" b="1" spc="200" kern="0" dirty="0">
                <a:solidFill>
                  <a:srgbClr val="6B7280"/>
                </a:solidFill>
                <a:latin typeface="Calibri" pitchFamily="34" charset="0"/>
                <a:ea typeface="Calibri" pitchFamily="34" charset="-122"/>
                <a:cs typeface="Calibri" pitchFamily="34" charset="-120"/>
              </a:rPr>
              <a:t>WHY IT MATTERS</a:t>
            </a:r>
            <a:endParaRPr lang="en-US" sz="700" dirty="0"/>
          </a:p>
        </p:txBody>
      </p:sp>
      <p:sp>
        <p:nvSpPr>
          <p:cNvPr id="12" name="Text 10"/>
          <p:cNvSpPr/>
          <p:nvPr/>
        </p:nvSpPr>
        <p:spPr>
          <a:xfrm>
            <a:off x="4754880" y="2029968"/>
            <a:ext cx="4023360" cy="118872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Most AI tools require a human to open an interface and initiate a task. OpenClaw is structurally different — always-on, messaging-native, no browser required. For agencies, the implication is agents that monitor, process, and act continuously. NemoClaw makes this relevant to enterprise environments.</a:t>
            </a:r>
            <a:endParaRPr lang="en-US" sz="1100" dirty="0"/>
          </a:p>
        </p:txBody>
      </p:sp>
      <p:sp>
        <p:nvSpPr>
          <p:cNvPr id="13" name="Shape 11"/>
          <p:cNvSpPr/>
          <p:nvPr/>
        </p:nvSpPr>
        <p:spPr>
          <a:xfrm>
            <a:off x="0" y="4617720"/>
            <a:ext cx="9144000" cy="525780"/>
          </a:xfrm>
          <a:prstGeom prst="rect">
            <a:avLst/>
          </a:prstGeom>
          <a:solidFill>
            <a:srgbClr val="F8FAFC"/>
          </a:solidFill>
          <a:ln w="12700">
            <a:solidFill>
              <a:srgbClr val="F8FAFC"/>
            </a:solidFill>
            <a:prstDash val="solid"/>
          </a:ln>
        </p:spPr>
      </p:sp>
      <p:sp>
        <p:nvSpPr>
          <p:cNvPr id="14" name="Text 12"/>
          <p:cNvSpPr/>
          <p:nvPr/>
        </p:nvSpPr>
        <p:spPr>
          <a:xfrm>
            <a:off x="411480" y="4709160"/>
            <a:ext cx="82296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Emerging  ·  Worth tracking</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94360" y="914400"/>
            <a:ext cx="7772400" cy="22860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This landscape changes fast.</a:t>
            </a:r>
            <a:endParaRPr lang="en-US" sz="2800" dirty="0"/>
          </a:p>
          <a:p>
            <a:pPr indent="0" marL="0">
              <a:buNone/>
            </a:pPr>
            <a:r>
              <a:rPr lang="en-US" sz="2800" b="1" dirty="0">
                <a:solidFill>
                  <a:srgbClr val="FFFFFF"/>
                </a:solidFill>
                <a:latin typeface="Calibri" pitchFamily="34" charset="0"/>
                <a:ea typeface="Calibri" pitchFamily="34" charset="-122"/>
                <a:cs typeface="Calibri" pitchFamily="34" charset="-120"/>
              </a:rPr>
              <a:t>The tools are secondary.</a:t>
            </a:r>
            <a:endParaRPr lang="en-US" sz="2800" dirty="0"/>
          </a:p>
          <a:p>
            <a:pPr indent="0" marL="0">
              <a:buNone/>
            </a:pPr>
            <a:r>
              <a:rPr lang="en-US" sz="2800" b="1" dirty="0">
                <a:solidFill>
                  <a:srgbClr val="FFFFFF"/>
                </a:solidFill>
                <a:latin typeface="Calibri" pitchFamily="34" charset="0"/>
                <a:ea typeface="Calibri" pitchFamily="34" charset="-122"/>
                <a:cs typeface="Calibri" pitchFamily="34" charset="-120"/>
              </a:rPr>
              <a:t>The thinking is what compounds.</a:t>
            </a:r>
            <a:endParaRPr lang="en-US" sz="2800" dirty="0"/>
          </a:p>
        </p:txBody>
      </p:sp>
      <p:sp>
        <p:nvSpPr>
          <p:cNvPr id="3" name="Text 1"/>
          <p:cNvSpPr/>
          <p:nvPr/>
        </p:nvSpPr>
        <p:spPr>
          <a:xfrm>
            <a:off x="594360" y="4114800"/>
            <a:ext cx="5486400" cy="36576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Built with Claude Cowork  ·  Kyle  ·  2026</a:t>
            </a:r>
            <a:endParaRPr lang="en-US" sz="1100" dirty="0"/>
          </a:p>
        </p:txBody>
      </p:sp>
      <p:sp>
        <p:nvSpPr>
          <p:cNvPr id="4" name="Shape 2"/>
          <p:cNvSpPr/>
          <p:nvPr/>
        </p:nvSpPr>
        <p:spPr>
          <a:xfrm>
            <a:off x="0" y="4960620"/>
            <a:ext cx="9144000" cy="182880"/>
          </a:xfrm>
          <a:prstGeom prst="rect">
            <a:avLst/>
          </a:prstGeom>
          <a:solidFill>
            <a:srgbClr val="6366F1"/>
          </a:solidFill>
          <a:ln w="12700">
            <a:solidFill>
              <a:srgbClr val="6366F1"/>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Tools for Advertising &amp; Marketing</dc:title>
  <dc:subject>PptxGenJS Presentation</dc:subject>
  <dc:creator>Kyle</dc:creator>
  <cp:lastModifiedBy>Kyle</cp:lastModifiedBy>
  <cp:revision>1</cp:revision>
  <dcterms:created xsi:type="dcterms:W3CDTF">2026-05-11T19:33:02Z</dcterms:created>
  <dcterms:modified xsi:type="dcterms:W3CDTF">2026-05-11T19:33:02Z</dcterms:modified>
</cp:coreProperties>
</file>